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8" r:id="rId2"/>
    <p:sldId id="276" r:id="rId3"/>
    <p:sldId id="259" r:id="rId4"/>
    <p:sldId id="262" r:id="rId5"/>
    <p:sldId id="270" r:id="rId6"/>
    <p:sldId id="272" r:id="rId7"/>
    <p:sldId id="274" r:id="rId8"/>
    <p:sldId id="264" r:id="rId9"/>
    <p:sldId id="275" r:id="rId10"/>
    <p:sldId id="265" r:id="rId11"/>
    <p:sldId id="277" r:id="rId12"/>
    <p:sldId id="27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05F44-A5C6-48C3-A364-1852186EBD91}"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58344-FF6C-4B5F-A47F-748F313E53CB}" type="slidenum">
              <a:rPr lang="en-IN" smtClean="0"/>
              <a:t>‹#›</a:t>
            </a:fld>
            <a:endParaRPr lang="en-IN"/>
          </a:p>
        </p:txBody>
      </p:sp>
    </p:spTree>
    <p:extLst>
      <p:ext uri="{BB962C8B-B14F-4D97-AF65-F5344CB8AC3E}">
        <p14:creationId xmlns:p14="http://schemas.microsoft.com/office/powerpoint/2010/main" val="60972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ED8304-04D4-4EDA-BF9B-38F2DEB44F85}" type="slidenum">
              <a:rPr lang="en-IN" smtClean="0"/>
              <a:t>5</a:t>
            </a:fld>
            <a:endParaRPr lang="en-IN"/>
          </a:p>
        </p:txBody>
      </p:sp>
    </p:spTree>
    <p:extLst>
      <p:ext uri="{BB962C8B-B14F-4D97-AF65-F5344CB8AC3E}">
        <p14:creationId xmlns:p14="http://schemas.microsoft.com/office/powerpoint/2010/main" val="2688362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ED8304-04D4-4EDA-BF9B-38F2DEB44F85}" type="slidenum">
              <a:rPr lang="en-IN" smtClean="0"/>
              <a:t>11</a:t>
            </a:fld>
            <a:endParaRPr lang="en-IN"/>
          </a:p>
        </p:txBody>
      </p:sp>
    </p:spTree>
    <p:extLst>
      <p:ext uri="{BB962C8B-B14F-4D97-AF65-F5344CB8AC3E}">
        <p14:creationId xmlns:p14="http://schemas.microsoft.com/office/powerpoint/2010/main" val="123234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367468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594925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800311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51217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C4AEB-E75E-4D80-BE9F-9513B028DAC5}" type="datetimeFigureOut">
              <a:rPr lang="en-IN" smtClean="0"/>
              <a:t>25-08-2026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4283957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7C4AEB-E75E-4D80-BE9F-9513B028DAC5}" type="datetimeFigureOut">
              <a:rPr lang="en-IN" smtClean="0"/>
              <a:t>25-08-2026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85601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C4AEB-E75E-4D80-BE9F-9513B028DAC5}" type="datetimeFigureOut">
              <a:rPr lang="en-IN" smtClean="0"/>
              <a:t>25-08-2026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212028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2703393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181588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342468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5422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618464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31451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216218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332080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512705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27C4AEB-E75E-4D80-BE9F-9513B028DAC5}" type="datetimeFigureOut">
              <a:rPr lang="en-IN" smtClean="0"/>
              <a:t>25-08-2026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878DB72-E24D-4B1A-A763-E757C1C8890C}" type="slidenum">
              <a:rPr lang="en-IN" smtClean="0"/>
              <a:t>‹#›</a:t>
            </a:fld>
            <a:endParaRPr lang="en-IN"/>
          </a:p>
        </p:txBody>
      </p:sp>
    </p:spTree>
    <p:extLst>
      <p:ext uri="{BB962C8B-B14F-4D97-AF65-F5344CB8AC3E}">
        <p14:creationId xmlns:p14="http://schemas.microsoft.com/office/powerpoint/2010/main" val="60248246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vrajesh0sharma7/used-car-price-predic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hazarikafarhan05/Car-Resale-Value-Prediction-PBEL-PROJECT.gi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94969-377B-2802-10B9-73B69CD990DE}"/>
              </a:ext>
            </a:extLst>
          </p:cNvPr>
          <p:cNvSpPr>
            <a:spLocks noGrp="1"/>
          </p:cNvSpPr>
          <p:nvPr>
            <p:ph idx="1"/>
          </p:nvPr>
        </p:nvSpPr>
        <p:spPr>
          <a:xfrm>
            <a:off x="1776606" y="2765192"/>
            <a:ext cx="11189133" cy="3342442"/>
          </a:xfrm>
        </p:spPr>
        <p:txBody>
          <a:bodyPr>
            <a:normAutofit fontScale="77500" lnSpcReduction="20000"/>
          </a:bodyPr>
          <a:lstStyle/>
          <a:p>
            <a:pPr marL="0" indent="0">
              <a:buNone/>
            </a:pPr>
            <a:r>
              <a:rPr lang="en-US" sz="3600" dirty="0">
                <a:latin typeface="Times New Roman" panose="02020603050405020304" pitchFamily="18" charset="0"/>
                <a:cs typeface="Times New Roman" panose="02020603050405020304" pitchFamily="18" charset="0"/>
              </a:rPr>
              <a:t>		</a:t>
            </a:r>
            <a:r>
              <a:rPr lang="en-US" sz="3600" dirty="0">
                <a:solidFill>
                  <a:schemeClr val="accent1">
                    <a:lumMod val="60000"/>
                    <a:lumOff val="40000"/>
                  </a:schemeClr>
                </a:solidFill>
                <a:latin typeface="Times New Roman" panose="02020603050405020304" pitchFamily="18" charset="0"/>
                <a:cs typeface="Times New Roman" panose="02020603050405020304" pitchFamily="18" charset="0"/>
              </a:rPr>
              <a:t>	                    Project Presentation</a:t>
            </a:r>
          </a:p>
          <a:p>
            <a:pPr marL="0" indent="0">
              <a:buNone/>
            </a:pPr>
            <a:endParaRPr lang="en-IN" sz="3600" dirty="0">
              <a:latin typeface="Times New Roman" panose="02020603050405020304" pitchFamily="18" charset="0"/>
              <a:cs typeface="Times New Roman" panose="02020603050405020304" pitchFamily="18" charset="0"/>
            </a:endParaRPr>
          </a:p>
          <a:p>
            <a:pPr marL="0" indent="0">
              <a:buNone/>
            </a:pPr>
            <a:r>
              <a:rPr lang="en-IN"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By :  Name: Farhan Khatib Hazarika</a:t>
            </a:r>
          </a:p>
          <a:p>
            <a:pPr marL="0" indent="0">
              <a:buNone/>
            </a:pPr>
            <a:r>
              <a:rPr lang="en-IN" sz="3600" b="1" dirty="0">
                <a:latin typeface="Times New Roman" panose="02020603050405020304" pitchFamily="18" charset="0"/>
                <a:cs typeface="Times New Roman" panose="02020603050405020304" pitchFamily="18" charset="0"/>
              </a:rPr>
              <a:t>                         Enrol No: 2313018025</a:t>
            </a:r>
          </a:p>
          <a:p>
            <a:pPr marL="0" indent="0">
              <a:buNone/>
            </a:pPr>
            <a:r>
              <a:rPr lang="en-IN" sz="3600" b="1" dirty="0">
                <a:latin typeface="Times New Roman" panose="02020603050405020304" pitchFamily="18" charset="0"/>
                <a:cs typeface="Times New Roman" panose="02020603050405020304" pitchFamily="18" charset="0"/>
              </a:rPr>
              <a:t>                         B. Tech (CSE), 7</a:t>
            </a:r>
            <a:r>
              <a:rPr lang="en-IN" sz="3600" b="1" baseline="30000" dirty="0">
                <a:latin typeface="Times New Roman" panose="02020603050405020304" pitchFamily="18" charset="0"/>
                <a:cs typeface="Times New Roman" panose="02020603050405020304" pitchFamily="18" charset="0"/>
              </a:rPr>
              <a:t>th</a:t>
            </a:r>
            <a:r>
              <a:rPr lang="en-IN" sz="3600" b="1" dirty="0">
                <a:latin typeface="Times New Roman" panose="02020603050405020304" pitchFamily="18" charset="0"/>
                <a:cs typeface="Times New Roman" panose="02020603050405020304" pitchFamily="18" charset="0"/>
              </a:rPr>
              <a:t> Sem</a:t>
            </a:r>
          </a:p>
          <a:p>
            <a:pPr marL="0" indent="0">
              <a:buNone/>
            </a:pPr>
            <a:r>
              <a:rPr lang="en-IN" sz="3600" b="1" dirty="0">
                <a:latin typeface="Times New Roman" panose="02020603050405020304" pitchFamily="18" charset="0"/>
                <a:cs typeface="Times New Roman" panose="02020603050405020304" pitchFamily="18" charset="0"/>
              </a:rPr>
              <a:t>                         Institute: Girijananda Chowdhury University, </a:t>
            </a:r>
          </a:p>
          <a:p>
            <a:pPr marL="0" indent="0">
              <a:buNone/>
            </a:pPr>
            <a:r>
              <a:rPr lang="en-IN" sz="3600" b="1" dirty="0">
                <a:latin typeface="Times New Roman" panose="02020603050405020304" pitchFamily="18" charset="0"/>
                <a:cs typeface="Times New Roman" panose="02020603050405020304" pitchFamily="18" charset="0"/>
              </a:rPr>
              <a:t>                                          Assam</a:t>
            </a:r>
          </a:p>
          <a:p>
            <a:pPr marL="0" indent="0">
              <a:buNone/>
            </a:pPr>
            <a:endParaRPr lang="en-IN" sz="36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838D34B-3490-D3E2-FB23-5F5CE5D50BCF}"/>
              </a:ext>
            </a:extLst>
          </p:cNvPr>
          <p:cNvSpPr txBox="1">
            <a:spLocks/>
          </p:cNvSpPr>
          <p:nvPr/>
        </p:nvSpPr>
        <p:spPr>
          <a:xfrm>
            <a:off x="1495373" y="956546"/>
            <a:ext cx="9905999" cy="117705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sz="4000" dirty="0">
                <a:solidFill>
                  <a:schemeClr val="bg2">
                    <a:lumMod val="50000"/>
                  </a:schemeClr>
                </a:solidFill>
                <a:latin typeface="Times New Roman" panose="02020603050405020304" pitchFamily="18" charset="0"/>
                <a:cs typeface="Times New Roman" panose="02020603050405020304" pitchFamily="18" charset="0"/>
              </a:rPr>
              <a:t> </a:t>
            </a:r>
            <a:r>
              <a:rPr lang="en-US" sz="4000" b="1" dirty="0">
                <a:solidFill>
                  <a:schemeClr val="bg2">
                    <a:lumMod val="50000"/>
                  </a:schemeClr>
                </a:solidFill>
                <a:latin typeface="Times New Roman" panose="02020603050405020304" pitchFamily="18" charset="0"/>
                <a:cs typeface="Times New Roman" panose="02020603050405020304" pitchFamily="18" charset="0"/>
              </a:rPr>
              <a:t>Car Resale Prediction using Machine Learning </a:t>
            </a:r>
          </a:p>
          <a:p>
            <a:pPr marL="0" indent="0" algn="ctr">
              <a:buNone/>
            </a:pPr>
            <a:r>
              <a:rPr lang="en-US" sz="4000" b="1" dirty="0">
                <a:solidFill>
                  <a:schemeClr val="bg2">
                    <a:lumMod val="50000"/>
                  </a:schemeClr>
                </a:solidFill>
                <a:latin typeface="Times New Roman" panose="02020603050405020304" pitchFamily="18" charset="0"/>
                <a:cs typeface="Times New Roman" panose="02020603050405020304" pitchFamily="18" charset="0"/>
              </a:rPr>
              <a:t>and Deep Learning</a:t>
            </a:r>
          </a:p>
          <a:p>
            <a:pPr marL="0" indent="0">
              <a:buNone/>
            </a:pPr>
            <a:endParaRPr lang="en-IN" sz="40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42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B1E5-67BC-2FD9-F4B3-8F5CB63678CA}"/>
              </a:ext>
            </a:extLst>
          </p:cNvPr>
          <p:cNvSpPr>
            <a:spLocks noGrp="1"/>
          </p:cNvSpPr>
          <p:nvPr>
            <p:ph type="title"/>
          </p:nvPr>
        </p:nvSpPr>
        <p:spPr>
          <a:xfrm>
            <a:off x="2592925" y="624110"/>
            <a:ext cx="8911687" cy="830117"/>
          </a:xfrm>
        </p:spPr>
        <p:txBody>
          <a:bodyPr/>
          <a:lstStyle/>
          <a:p>
            <a:pPr algn="just"/>
            <a:r>
              <a:rPr lang="en-US" dirty="0"/>
              <a:t>               </a:t>
            </a:r>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3C2A0-79D0-0BC5-7EF9-D9DCE64CA454}"/>
              </a:ext>
            </a:extLst>
          </p:cNvPr>
          <p:cNvSpPr>
            <a:spLocks noGrp="1"/>
          </p:cNvSpPr>
          <p:nvPr>
            <p:ph idx="1"/>
          </p:nvPr>
        </p:nvSpPr>
        <p:spPr>
          <a:xfrm>
            <a:off x="1944414" y="1759026"/>
            <a:ext cx="9374750" cy="4474864"/>
          </a:xfrm>
        </p:spPr>
        <p:txBody>
          <a:bodyPr>
            <a:normAutofit fontScale="85000" lnSpcReduction="20000"/>
          </a:bodyPr>
          <a:lstStyle/>
          <a:p>
            <a:r>
              <a:rPr lang="en-IN" sz="2400" b="1" dirty="0">
                <a:solidFill>
                  <a:srgbClr val="193960"/>
                </a:solidFill>
                <a:latin typeface="Times New Roman" panose="02020603050405020304" pitchFamily="18" charset="0"/>
                <a:cs typeface="Times New Roman" panose="02020603050405020304" pitchFamily="18" charset="0"/>
              </a:rPr>
              <a:t>The problem:</a:t>
            </a:r>
          </a:p>
          <a:p>
            <a:pPr marL="0" indent="0">
              <a:lnSpc>
                <a:spcPct val="160000"/>
              </a:lnSpc>
              <a:buNone/>
            </a:pPr>
            <a:r>
              <a:rPr lang="en-US" sz="2400" dirty="0">
                <a:solidFill>
                  <a:srgbClr val="283748"/>
                </a:solidFill>
                <a:latin typeface="Times New Roman" panose="02020603050405020304" pitchFamily="18" charset="0"/>
                <a:cs typeface="Times New Roman" panose="02020603050405020304" pitchFamily="18" charset="0"/>
              </a:rPr>
              <a:t>    Used-car prices depend on many interacting factors such as age, kilometers driven, vehicle specifications, location, ownership and market signals</a:t>
            </a:r>
          </a:p>
          <a:p>
            <a:pPr>
              <a:lnSpc>
                <a:spcPct val="160000"/>
              </a:lnSpc>
            </a:pPr>
            <a:endParaRPr lang="en-US" sz="2400" dirty="0">
              <a:solidFill>
                <a:srgbClr val="283748"/>
              </a:solidFill>
              <a:latin typeface="Times New Roman" panose="02020603050405020304" pitchFamily="18" charset="0"/>
              <a:cs typeface="Times New Roman" panose="02020603050405020304" pitchFamily="18" charset="0"/>
            </a:endParaRPr>
          </a:p>
          <a:p>
            <a:r>
              <a:rPr lang="en-IN" sz="2400" b="1" dirty="0">
                <a:solidFill>
                  <a:srgbClr val="193960"/>
                </a:solidFill>
                <a:latin typeface="Times New Roman" panose="02020603050405020304" pitchFamily="18" charset="0"/>
                <a:cs typeface="Times New Roman" panose="02020603050405020304" pitchFamily="18" charset="0"/>
              </a:rPr>
              <a:t>Why it matters?</a:t>
            </a:r>
          </a:p>
          <a:p>
            <a:pPr marL="0" indent="0">
              <a:lnSpc>
                <a:spcPct val="160000"/>
              </a:lnSpc>
              <a:buNone/>
            </a:pPr>
            <a:r>
              <a:rPr lang="en-US" sz="2400" dirty="0">
                <a:solidFill>
                  <a:srgbClr val="283748"/>
                </a:solidFill>
                <a:latin typeface="Times New Roman" panose="02020603050405020304" pitchFamily="18" charset="0"/>
                <a:cs typeface="Times New Roman" panose="02020603050405020304" pitchFamily="18" charset="0"/>
              </a:rPr>
              <a:t>   A data-driven estimate can support more consistent pricing decisions and reduce reliance on subjective manual valuation.</a:t>
            </a:r>
          </a:p>
          <a:p>
            <a:endParaRPr lang="en-US" sz="2400" dirty="0">
              <a:solidFill>
                <a:srgbClr val="283748"/>
              </a:solidFill>
              <a:latin typeface="Times New Roman" panose="02020603050405020304" pitchFamily="18" charset="0"/>
              <a:cs typeface="Times New Roman" panose="02020603050405020304" pitchFamily="18" charset="0"/>
            </a:endParaRPr>
          </a:p>
          <a:p>
            <a:r>
              <a:rPr lang="en-IN" sz="2400" b="1" dirty="0">
                <a:solidFill>
                  <a:srgbClr val="193960"/>
                </a:solidFill>
                <a:latin typeface="Times New Roman" panose="02020603050405020304" pitchFamily="18" charset="0"/>
                <a:cs typeface="Times New Roman" panose="02020603050405020304" pitchFamily="18" charset="0"/>
              </a:rPr>
              <a:t>Prediction task</a:t>
            </a:r>
          </a:p>
          <a:p>
            <a:pPr marL="0" indent="0">
              <a:buNone/>
            </a:pPr>
            <a:r>
              <a:rPr lang="en-US" sz="2400" dirty="0">
                <a:solidFill>
                  <a:srgbClr val="283748"/>
                </a:solidFill>
                <a:latin typeface="Times New Roman" panose="02020603050405020304" pitchFamily="18" charset="0"/>
                <a:cs typeface="Times New Roman" panose="02020603050405020304" pitchFamily="18" charset="0"/>
              </a:rPr>
              <a:t>Supervised regression: predict the continuous target variable ‘sale price’ for a used car.</a:t>
            </a:r>
          </a:p>
          <a:p>
            <a:endParaRPr lang="en-IN" sz="2400" b="1" dirty="0">
              <a:solidFill>
                <a:srgbClr val="19396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7895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D46B9-DE27-19BC-C732-0418DBF9CC6F}"/>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               Problem Objective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6897F1-A255-9563-56F3-5967182C9765}"/>
              </a:ext>
            </a:extLst>
          </p:cNvPr>
          <p:cNvSpPr>
            <a:spLocks noGrp="1"/>
          </p:cNvSpPr>
          <p:nvPr>
            <p:ph idx="1"/>
          </p:nvPr>
        </p:nvSpPr>
        <p:spPr>
          <a:xfrm>
            <a:off x="1236005" y="1905000"/>
            <a:ext cx="9905999" cy="1752242"/>
          </a:xfrm>
        </p:spPr>
        <p:txBody>
          <a:bodyPr>
            <a:normAutofit/>
          </a:bodyPr>
          <a:lstStyle/>
          <a:p>
            <a:pPr marL="0" indent="0">
              <a:buNone/>
            </a:pPr>
            <a:r>
              <a:rPr lang="en-IN" sz="2400" b="1" u="sng" dirty="0">
                <a:solidFill>
                  <a:srgbClr val="002060"/>
                </a:solidFill>
                <a:latin typeface="Times New Roman" panose="02020603050405020304" pitchFamily="18" charset="0"/>
                <a:cs typeface="Times New Roman" panose="02020603050405020304" pitchFamily="18" charset="0"/>
              </a:rPr>
              <a:t>Objective:</a:t>
            </a:r>
          </a:p>
          <a:p>
            <a:pPr marL="0" indent="0">
              <a:lnSpc>
                <a:spcPct val="150000"/>
              </a:lnSpc>
              <a:buNone/>
            </a:pPr>
            <a:r>
              <a:rPr lang="en-US" sz="2400" dirty="0">
                <a:latin typeface="Times New Roman" panose="02020603050405020304" pitchFamily="18" charset="0"/>
                <a:cs typeface="Times New Roman" panose="02020603050405020304" pitchFamily="18" charset="0"/>
              </a:rPr>
              <a:t>Predicting the resale price of a used car using various factors based on its characteristics using various ML and ANN.</a:t>
            </a: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C8AF1B68-EF2E-3C2B-D893-FE36A25CF145}"/>
              </a:ext>
            </a:extLst>
          </p:cNvPr>
          <p:cNvSpPr txBox="1">
            <a:spLocks/>
          </p:cNvSpPr>
          <p:nvPr/>
        </p:nvSpPr>
        <p:spPr>
          <a:xfrm>
            <a:off x="1141411" y="3766935"/>
            <a:ext cx="9905999" cy="33934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50000"/>
              </a:lnSpc>
              <a:buNone/>
            </a:pPr>
            <a:r>
              <a:rPr lang="en-IN" b="1" u="sng" dirty="0">
                <a:solidFill>
                  <a:srgbClr val="002060"/>
                </a:solidFill>
                <a:latin typeface="Times New Roman" panose="02020603050405020304" pitchFamily="18" charset="0"/>
                <a:cs typeface="Times New Roman" panose="02020603050405020304" pitchFamily="18" charset="0"/>
              </a:rPr>
              <a:t>Detailed Analysis:</a:t>
            </a:r>
            <a:r>
              <a:rPr lang="en-IN" b="1" dirty="0">
                <a:solidFill>
                  <a:srgbClr val="00206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develop a machine learning and Artificial Neural Network (ANN) based system that predicts the resale/sale price of a used car using factors such as car details, manufacturing year, kilometers driven, fuel type, location, ownership, transmission, vehicle condition, and other relevant features.</a:t>
            </a: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70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2ED6-277E-A35A-C440-EE0942329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C413-11AB-CD86-B1D3-D312B4CD29A3}"/>
              </a:ext>
            </a:extLst>
          </p:cNvPr>
          <p:cNvSpPr>
            <a:spLocks noGrp="1"/>
          </p:cNvSpPr>
          <p:nvPr>
            <p:ph type="title"/>
          </p:nvPr>
        </p:nvSpPr>
        <p:spPr>
          <a:xfrm>
            <a:off x="2181933" y="126892"/>
            <a:ext cx="9905998" cy="571185"/>
          </a:xfrm>
        </p:spPr>
        <p:txBody>
          <a:bodyPr>
            <a:normAutofit fontScale="90000"/>
          </a:bodyPr>
          <a:lstStyle/>
          <a:p>
            <a:r>
              <a:rPr lang="en-IN" b="1" dirty="0">
                <a:latin typeface="Times New Roman" panose="02020603050405020304" pitchFamily="18" charset="0"/>
                <a:cs typeface="Times New Roman" panose="02020603050405020304" pitchFamily="18" charset="0"/>
              </a:rPr>
              <a:t>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Dataset Overview </a:t>
            </a:r>
          </a:p>
        </p:txBody>
      </p:sp>
      <p:sp>
        <p:nvSpPr>
          <p:cNvPr id="3" name="Content Placeholder 2">
            <a:extLst>
              <a:ext uri="{FF2B5EF4-FFF2-40B4-BE49-F238E27FC236}">
                <a16:creationId xmlns:a16="http://schemas.microsoft.com/office/drawing/2014/main" id="{7E3C9EE6-1B68-0C75-041E-44EFECD68989}"/>
              </a:ext>
            </a:extLst>
          </p:cNvPr>
          <p:cNvSpPr>
            <a:spLocks noGrp="1"/>
          </p:cNvSpPr>
          <p:nvPr>
            <p:ph idx="1"/>
          </p:nvPr>
        </p:nvSpPr>
        <p:spPr>
          <a:xfrm>
            <a:off x="1141408" y="1350724"/>
            <a:ext cx="9905999" cy="1752242"/>
          </a:xfrm>
        </p:spPr>
        <p:txBody>
          <a:bodyPr>
            <a:normAutofit fontScale="70000" lnSpcReduction="20000"/>
          </a:bodyPr>
          <a:lstStyle/>
          <a:p>
            <a:pPr marL="0" indent="0">
              <a:buNone/>
            </a:pPr>
            <a:r>
              <a:rPr lang="en-IN" sz="2400" b="1" u="sng" dirty="0">
                <a:latin typeface="Times New Roman" panose="02020603050405020304" pitchFamily="18" charset="0"/>
                <a:cs typeface="Times New Roman" panose="02020603050405020304" pitchFamily="18" charset="0"/>
              </a:rPr>
              <a:t>Data Source:</a:t>
            </a:r>
            <a:r>
              <a:rPr lang="en-IN" sz="2400" b="1" dirty="0">
                <a:latin typeface="Times New Roman" panose="02020603050405020304" pitchFamily="18" charset="0"/>
                <a:cs typeface="Times New Roman" panose="02020603050405020304" pitchFamily="18" charset="0"/>
              </a:rPr>
              <a:t> Used_Car_Price_Prediction.csv</a:t>
            </a:r>
          </a:p>
          <a:p>
            <a:pPr marL="0" indent="0">
              <a:buNone/>
            </a:pPr>
            <a:r>
              <a:rPr lang="en-IN" sz="2400" b="1" u="sng" dirty="0">
                <a:latin typeface="Times New Roman" panose="02020603050405020304" pitchFamily="18" charset="0"/>
                <a:cs typeface="Times New Roman" panose="02020603050405020304" pitchFamily="18" charset="0"/>
                <a:hlinkClick r:id="rId2"/>
              </a:rPr>
              <a:t>https://www.kaggle.com/datasets/vrajesh0sharma7/used-car-price-prediction</a:t>
            </a:r>
            <a:r>
              <a:rPr lang="en-IN" sz="2400" b="1" u="sng" dirty="0">
                <a:latin typeface="Times New Roman" panose="02020603050405020304" pitchFamily="18" charset="0"/>
                <a:cs typeface="Times New Roman" panose="02020603050405020304" pitchFamily="18" charset="0"/>
              </a:rPr>
              <a:t> </a:t>
            </a:r>
          </a:p>
          <a:p>
            <a:pPr marL="0" indent="0">
              <a:lnSpc>
                <a:spcPct val="150000"/>
              </a:lnSpc>
              <a:buNone/>
            </a:pPr>
            <a:r>
              <a:rPr lang="en-US" sz="2400" dirty="0">
                <a:latin typeface="Times New Roman" panose="02020603050405020304" pitchFamily="18" charset="0"/>
                <a:cs typeface="Times New Roman" panose="02020603050405020304" pitchFamily="18" charset="0"/>
              </a:rPr>
              <a:t>The dataset contains detailed information about used cars, including their manufacturing details, usage, location, specifications, ownership history, and pricing information. This data is used to estimate the resale value of a car.</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FFB33373-FDC9-DC59-6C33-10B611835D75}"/>
              </a:ext>
            </a:extLst>
          </p:cNvPr>
          <p:cNvSpPr txBox="1">
            <a:spLocks/>
          </p:cNvSpPr>
          <p:nvPr/>
        </p:nvSpPr>
        <p:spPr>
          <a:xfrm>
            <a:off x="1141406" y="3162615"/>
            <a:ext cx="9905999" cy="23234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50000"/>
              </a:lnSpc>
              <a:buNone/>
            </a:pPr>
            <a:r>
              <a:rPr lang="en-US" sz="1800" b="1" u="sng" dirty="0">
                <a:latin typeface="Times New Roman" panose="02020603050405020304" pitchFamily="18" charset="0"/>
                <a:cs typeface="Times New Roman" panose="02020603050405020304" pitchFamily="18" charset="0"/>
              </a:rPr>
              <a:t>Features: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Car Name, Manufacturing Year, Fuel Type, Kilometers Run, City, Body Type, Transmission, Variant, Manufacturer, Model, Total Owners, Original Price, Broker Quote, Car Rating, Times Viewed, and other car-related attributes</a:t>
            </a:r>
            <a:r>
              <a:rPr lang="en-US" sz="1800" b="1"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DF2D807-8C24-CB43-DB08-A2A6BD180483}"/>
              </a:ext>
            </a:extLst>
          </p:cNvPr>
          <p:cNvSpPr txBox="1">
            <a:spLocks/>
          </p:cNvSpPr>
          <p:nvPr/>
        </p:nvSpPr>
        <p:spPr>
          <a:xfrm>
            <a:off x="1141407" y="4855208"/>
            <a:ext cx="9905999" cy="23234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sz="1800" b="1" u="sng" dirty="0">
                <a:latin typeface="Times New Roman" panose="02020603050405020304" pitchFamily="18" charset="0"/>
                <a:cs typeface="Times New Roman" panose="02020603050405020304" pitchFamily="18" charset="0"/>
              </a:rPr>
              <a:t>Target Variable: </a:t>
            </a:r>
            <a:r>
              <a:rPr lang="en-US" sz="1800" dirty="0">
                <a:latin typeface="Times New Roman" panose="02020603050405020304" pitchFamily="18" charset="0"/>
                <a:cs typeface="Times New Roman" panose="02020603050405020304" pitchFamily="18" charset="0"/>
              </a:rPr>
              <a:t>Sale Price </a:t>
            </a:r>
          </a:p>
          <a:p>
            <a:pPr marL="0" indent="0">
              <a:lnSpc>
                <a:spcPct val="150000"/>
              </a:lnSpc>
              <a:buNone/>
            </a:pPr>
            <a:r>
              <a:rPr lang="en-US" sz="1800" dirty="0">
                <a:latin typeface="Times New Roman" panose="02020603050405020304" pitchFamily="18" charset="0"/>
                <a:cs typeface="Times New Roman" panose="02020603050405020304" pitchFamily="18" charset="0"/>
              </a:rPr>
              <a:t>The target variable is the sale price of the used car, which represents the estimated resale value that our Machine Learning and Deep Learning models aim to predict.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566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2A24-31A6-2959-0078-CF3ABE7CD886}"/>
              </a:ext>
            </a:extLst>
          </p:cNvPr>
          <p:cNvSpPr>
            <a:spLocks noGrp="1"/>
          </p:cNvSpPr>
          <p:nvPr>
            <p:ph type="title"/>
          </p:nvPr>
        </p:nvSpPr>
        <p:spPr>
          <a:xfrm>
            <a:off x="2690898" y="-1389747"/>
            <a:ext cx="45719" cy="72576"/>
          </a:xfrm>
        </p:spPr>
        <p:txBody>
          <a:bodyPr>
            <a:normAutofit fontScale="90000"/>
          </a:bodyPr>
          <a:lstStyle/>
          <a:p>
            <a:r>
              <a:rPr lang="en-IN" dirty="0"/>
              <a:t> </a:t>
            </a:r>
          </a:p>
        </p:txBody>
      </p:sp>
      <p:sp>
        <p:nvSpPr>
          <p:cNvPr id="3" name="Content Placeholder 2">
            <a:extLst>
              <a:ext uri="{FF2B5EF4-FFF2-40B4-BE49-F238E27FC236}">
                <a16:creationId xmlns:a16="http://schemas.microsoft.com/office/drawing/2014/main" id="{B6AC87E1-964D-8F45-F9B5-5C143C2C5F10}"/>
              </a:ext>
            </a:extLst>
          </p:cNvPr>
          <p:cNvSpPr>
            <a:spLocks noGrp="1"/>
          </p:cNvSpPr>
          <p:nvPr>
            <p:ph idx="1"/>
          </p:nvPr>
        </p:nvSpPr>
        <p:spPr>
          <a:xfrm flipV="1">
            <a:off x="1314994" y="7376162"/>
            <a:ext cx="45719" cy="45719"/>
          </a:xfrm>
        </p:spPr>
        <p:txBody>
          <a:bodyPr>
            <a:normAutofit fontScale="25000" lnSpcReduction="20000"/>
          </a:bodyPr>
          <a:lstStyle/>
          <a:p>
            <a:r>
              <a:rPr lang="en-IN" dirty="0"/>
              <a:t> </a:t>
            </a:r>
          </a:p>
        </p:txBody>
      </p:sp>
      <p:sp>
        <p:nvSpPr>
          <p:cNvPr id="30" name="TextBox 29">
            <a:extLst>
              <a:ext uri="{FF2B5EF4-FFF2-40B4-BE49-F238E27FC236}">
                <a16:creationId xmlns:a16="http://schemas.microsoft.com/office/drawing/2014/main" id="{BF7F5080-80F2-2FAC-F2D5-0677F45F9589}"/>
              </a:ext>
            </a:extLst>
          </p:cNvPr>
          <p:cNvSpPr txBox="1"/>
          <p:nvPr/>
        </p:nvSpPr>
        <p:spPr>
          <a:xfrm>
            <a:off x="1693817" y="720199"/>
            <a:ext cx="6830075" cy="646331"/>
          </a:xfrm>
          <a:prstGeom prst="rect">
            <a:avLst/>
          </a:prstGeom>
          <a:noFill/>
        </p:spPr>
        <p:txBody>
          <a:bodyPr wrap="none">
            <a:spAutoFit/>
          </a:bodyPr>
          <a:lstStyle/>
          <a:p>
            <a:r>
              <a:rPr lang="en-IN" sz="2700" b="1" dirty="0">
                <a:solidFill>
                  <a:srgbClr val="193960"/>
                </a:solidFill>
                <a:latin typeface="Aptos Display"/>
              </a:rPr>
              <a:t>                                          </a:t>
            </a:r>
            <a:r>
              <a:rPr sz="3600" b="1" dirty="0">
                <a:latin typeface="Times New Roman" panose="02020603050405020304" pitchFamily="18" charset="0"/>
                <a:cs typeface="Times New Roman" panose="02020603050405020304" pitchFamily="18" charset="0"/>
              </a:rPr>
              <a:t>Data Preprocessing</a:t>
            </a:r>
          </a:p>
        </p:txBody>
      </p:sp>
      <p:sp>
        <p:nvSpPr>
          <p:cNvPr id="32" name="Rounded Rectangle 3">
            <a:extLst>
              <a:ext uri="{FF2B5EF4-FFF2-40B4-BE49-F238E27FC236}">
                <a16:creationId xmlns:a16="http://schemas.microsoft.com/office/drawing/2014/main" id="{EF961027-6D18-2297-5266-1518E53A4641}"/>
              </a:ext>
            </a:extLst>
          </p:cNvPr>
          <p:cNvSpPr/>
          <p:nvPr/>
        </p:nvSpPr>
        <p:spPr>
          <a:xfrm>
            <a:off x="800100" y="1982506"/>
            <a:ext cx="3429000" cy="1856667"/>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39DC29E2-9D38-5CE0-EF2A-802EA7CF69D6}"/>
              </a:ext>
            </a:extLst>
          </p:cNvPr>
          <p:cNvSpPr/>
          <p:nvPr/>
        </p:nvSpPr>
        <p:spPr>
          <a:xfrm>
            <a:off x="921995" y="2065238"/>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1</a:t>
            </a:r>
          </a:p>
        </p:txBody>
      </p:sp>
      <p:sp>
        <p:nvSpPr>
          <p:cNvPr id="34" name="TextBox 33">
            <a:extLst>
              <a:ext uri="{FF2B5EF4-FFF2-40B4-BE49-F238E27FC236}">
                <a16:creationId xmlns:a16="http://schemas.microsoft.com/office/drawing/2014/main" id="{07D39C1C-3211-8FAF-300C-F52A233B789D}"/>
              </a:ext>
            </a:extLst>
          </p:cNvPr>
          <p:cNvSpPr txBox="1"/>
          <p:nvPr/>
        </p:nvSpPr>
        <p:spPr>
          <a:xfrm>
            <a:off x="1442903" y="2091364"/>
            <a:ext cx="1293714" cy="338554"/>
          </a:xfrm>
          <a:prstGeom prst="rect">
            <a:avLst/>
          </a:prstGeom>
          <a:noFill/>
        </p:spPr>
        <p:txBody>
          <a:bodyPr wrap="square">
            <a:spAutoFit/>
          </a:bodyPr>
          <a:lstStyle/>
          <a:p>
            <a:r>
              <a:rPr sz="1600" b="1" dirty="0">
                <a:solidFill>
                  <a:srgbClr val="193960"/>
                </a:solidFill>
                <a:latin typeface="Times New Roman" panose="02020603050405020304" pitchFamily="18" charset="0"/>
                <a:cs typeface="Times New Roman" panose="02020603050405020304" pitchFamily="18" charset="0"/>
              </a:rPr>
              <a:t>Duplicates</a:t>
            </a:r>
          </a:p>
        </p:txBody>
      </p:sp>
      <p:sp>
        <p:nvSpPr>
          <p:cNvPr id="35" name="TextBox 34">
            <a:extLst>
              <a:ext uri="{FF2B5EF4-FFF2-40B4-BE49-F238E27FC236}">
                <a16:creationId xmlns:a16="http://schemas.microsoft.com/office/drawing/2014/main" id="{7C72655A-112D-6AEF-9182-49E47DD086BD}"/>
              </a:ext>
            </a:extLst>
          </p:cNvPr>
          <p:cNvSpPr txBox="1"/>
          <p:nvPr/>
        </p:nvSpPr>
        <p:spPr>
          <a:xfrm>
            <a:off x="918729" y="2650890"/>
            <a:ext cx="2268570" cy="338554"/>
          </a:xfrm>
          <a:prstGeom prst="rect">
            <a:avLst/>
          </a:prstGeom>
          <a:noFill/>
        </p:spPr>
        <p:txBody>
          <a:bodyPr wrap="none">
            <a:spAutoFit/>
          </a:bodyPr>
          <a:lstStyle/>
          <a:p>
            <a:r>
              <a:rPr sz="1600" dirty="0">
                <a:solidFill>
                  <a:srgbClr val="283748"/>
                </a:solidFill>
                <a:latin typeface="Times New Roman" panose="02020603050405020304" pitchFamily="18" charset="0"/>
                <a:cs typeface="Times New Roman" panose="02020603050405020304" pitchFamily="18" charset="0"/>
              </a:rPr>
              <a:t>Removed duplicate rows</a:t>
            </a:r>
            <a:r>
              <a:rPr sz="1150" dirty="0">
                <a:solidFill>
                  <a:srgbClr val="283748"/>
                </a:solidFill>
              </a:rPr>
              <a:t>.</a:t>
            </a:r>
          </a:p>
        </p:txBody>
      </p:sp>
      <p:sp>
        <p:nvSpPr>
          <p:cNvPr id="36" name="Rounded Rectangle 7">
            <a:extLst>
              <a:ext uri="{FF2B5EF4-FFF2-40B4-BE49-F238E27FC236}">
                <a16:creationId xmlns:a16="http://schemas.microsoft.com/office/drawing/2014/main" id="{051BF394-A2AF-8B4D-7CDA-AE2D9BA064AD}"/>
              </a:ext>
            </a:extLst>
          </p:cNvPr>
          <p:cNvSpPr/>
          <p:nvPr/>
        </p:nvSpPr>
        <p:spPr>
          <a:xfrm>
            <a:off x="4606290" y="1993392"/>
            <a:ext cx="3394710" cy="1856667"/>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a:extLst>
              <a:ext uri="{FF2B5EF4-FFF2-40B4-BE49-F238E27FC236}">
                <a16:creationId xmlns:a16="http://schemas.microsoft.com/office/drawing/2014/main" id="{EA39B07D-456E-4E36-E9A0-07DB44FEFB89}"/>
              </a:ext>
            </a:extLst>
          </p:cNvPr>
          <p:cNvSpPr/>
          <p:nvPr/>
        </p:nvSpPr>
        <p:spPr>
          <a:xfrm>
            <a:off x="4714603" y="2089839"/>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2</a:t>
            </a:r>
          </a:p>
        </p:txBody>
      </p:sp>
      <p:sp>
        <p:nvSpPr>
          <p:cNvPr id="38" name="TextBox 37">
            <a:extLst>
              <a:ext uri="{FF2B5EF4-FFF2-40B4-BE49-F238E27FC236}">
                <a16:creationId xmlns:a16="http://schemas.microsoft.com/office/drawing/2014/main" id="{F98A3992-60EA-E085-D19D-BAADC9A41C6B}"/>
              </a:ext>
            </a:extLst>
          </p:cNvPr>
          <p:cNvSpPr txBox="1"/>
          <p:nvPr/>
        </p:nvSpPr>
        <p:spPr>
          <a:xfrm>
            <a:off x="5166360" y="2176272"/>
            <a:ext cx="1114408"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Data types</a:t>
            </a:r>
          </a:p>
        </p:txBody>
      </p:sp>
      <p:sp>
        <p:nvSpPr>
          <p:cNvPr id="39" name="TextBox 38">
            <a:extLst>
              <a:ext uri="{FF2B5EF4-FFF2-40B4-BE49-F238E27FC236}">
                <a16:creationId xmlns:a16="http://schemas.microsoft.com/office/drawing/2014/main" id="{F7FDA6EA-0AB0-B10B-BBE0-06FB6632C9DA}"/>
              </a:ext>
            </a:extLst>
          </p:cNvPr>
          <p:cNvSpPr txBox="1"/>
          <p:nvPr/>
        </p:nvSpPr>
        <p:spPr>
          <a:xfrm>
            <a:off x="4663440" y="2630425"/>
            <a:ext cx="2754280" cy="523220"/>
          </a:xfrm>
          <a:prstGeom prst="rect">
            <a:avLst/>
          </a:prstGeom>
          <a:noFill/>
        </p:spPr>
        <p:txBody>
          <a:bodyPr wrap="none">
            <a:spAutoFit/>
          </a:bodyPr>
          <a:lstStyle/>
          <a:p>
            <a:r>
              <a:rPr sz="1400" dirty="0">
                <a:solidFill>
                  <a:srgbClr val="283748"/>
                </a:solidFill>
                <a:latin typeface="Times New Roman" panose="02020603050405020304" pitchFamily="18" charset="0"/>
                <a:cs typeface="Times New Roman" panose="02020603050405020304" pitchFamily="18" charset="0"/>
              </a:rPr>
              <a:t>Converted key numeric columns to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numeric with coercion</a:t>
            </a:r>
            <a:r>
              <a:rPr sz="1150" dirty="0">
                <a:solidFill>
                  <a:srgbClr val="283748"/>
                </a:solidFill>
              </a:rPr>
              <a:t>.</a:t>
            </a:r>
          </a:p>
        </p:txBody>
      </p:sp>
      <p:sp>
        <p:nvSpPr>
          <p:cNvPr id="40" name="Rounded Rectangle 11">
            <a:extLst>
              <a:ext uri="{FF2B5EF4-FFF2-40B4-BE49-F238E27FC236}">
                <a16:creationId xmlns:a16="http://schemas.microsoft.com/office/drawing/2014/main" id="{5F46912B-6F85-B87B-8A17-DBBF35200B35}"/>
              </a:ext>
            </a:extLst>
          </p:cNvPr>
          <p:cNvSpPr/>
          <p:nvPr/>
        </p:nvSpPr>
        <p:spPr>
          <a:xfrm>
            <a:off x="8378190" y="2089839"/>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C99EB10D-F500-7F3F-7310-B000FE9C21FC}"/>
              </a:ext>
            </a:extLst>
          </p:cNvPr>
          <p:cNvSpPr/>
          <p:nvPr/>
        </p:nvSpPr>
        <p:spPr>
          <a:xfrm>
            <a:off x="8479971" y="2130552"/>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3</a:t>
            </a:r>
          </a:p>
        </p:txBody>
      </p:sp>
      <p:sp>
        <p:nvSpPr>
          <p:cNvPr id="42" name="TextBox 41">
            <a:extLst>
              <a:ext uri="{FF2B5EF4-FFF2-40B4-BE49-F238E27FC236}">
                <a16:creationId xmlns:a16="http://schemas.microsoft.com/office/drawing/2014/main" id="{2BC8DE8D-18FD-6973-6DA7-4ED1F7FCE07F}"/>
              </a:ext>
            </a:extLst>
          </p:cNvPr>
          <p:cNvSpPr txBox="1"/>
          <p:nvPr/>
        </p:nvSpPr>
        <p:spPr>
          <a:xfrm>
            <a:off x="8961120" y="2218945"/>
            <a:ext cx="2331720" cy="411480"/>
          </a:xfrm>
          <a:prstGeom prst="rect">
            <a:avLst/>
          </a:prstGeom>
          <a:noFill/>
        </p:spPr>
        <p:txBody>
          <a:bodyPr wrap="none">
            <a:spAutoFit/>
          </a:bodyPr>
          <a:lstStyle/>
          <a:p>
            <a:r>
              <a:rPr sz="1400" b="1" dirty="0">
                <a:solidFill>
                  <a:srgbClr val="193960"/>
                </a:solidFill>
              </a:rPr>
              <a:t>Dropped columns</a:t>
            </a:r>
          </a:p>
        </p:txBody>
      </p:sp>
      <p:sp>
        <p:nvSpPr>
          <p:cNvPr id="43" name="TextBox 42">
            <a:extLst>
              <a:ext uri="{FF2B5EF4-FFF2-40B4-BE49-F238E27FC236}">
                <a16:creationId xmlns:a16="http://schemas.microsoft.com/office/drawing/2014/main" id="{82750DFC-A579-B318-6EB1-1DC158D3A8EC}"/>
              </a:ext>
            </a:extLst>
          </p:cNvPr>
          <p:cNvSpPr txBox="1"/>
          <p:nvPr/>
        </p:nvSpPr>
        <p:spPr>
          <a:xfrm>
            <a:off x="8458200" y="2221992"/>
            <a:ext cx="2917337" cy="1269578"/>
          </a:xfrm>
          <a:prstGeom prst="rect">
            <a:avLst/>
          </a:prstGeom>
          <a:noFill/>
        </p:spPr>
        <p:txBody>
          <a:bodyPr wrap="none">
            <a:spAutoFit/>
          </a:bodyPr>
          <a:lstStyle/>
          <a:p>
            <a:r>
              <a:rPr lang="en-IN" sz="1150" dirty="0">
                <a:solidFill>
                  <a:srgbClr val="283748"/>
                </a:solidFill>
              </a:rPr>
              <a:t>            </a:t>
            </a:r>
          </a:p>
          <a:p>
            <a:endParaRPr lang="en-IN" sz="1150" dirty="0">
              <a:solidFill>
                <a:srgbClr val="283748"/>
              </a:solidFill>
            </a:endParaRPr>
          </a:p>
          <a:p>
            <a:endParaRPr lang="en-IN" sz="1150" dirty="0">
              <a:solidFill>
                <a:srgbClr val="283748"/>
              </a:solidFill>
            </a:endParaRPr>
          </a:p>
          <a:p>
            <a:r>
              <a:rPr sz="1400" dirty="0">
                <a:solidFill>
                  <a:srgbClr val="283748"/>
                </a:solidFill>
                <a:latin typeface="Times New Roman" panose="02020603050405020304" pitchFamily="18" charset="0"/>
                <a:cs typeface="Times New Roman" panose="02020603050405020304" pitchFamily="18" charset="0"/>
              </a:rPr>
              <a:t>Removed </a:t>
            </a:r>
            <a:r>
              <a:rPr sz="1400" dirty="0" err="1">
                <a:solidFill>
                  <a:srgbClr val="283748"/>
                </a:solidFill>
                <a:latin typeface="Times New Roman" panose="02020603050405020304" pitchFamily="18" charset="0"/>
                <a:cs typeface="Times New Roman" panose="02020603050405020304" pitchFamily="18" charset="0"/>
              </a:rPr>
              <a:t>rto</a:t>
            </a:r>
            <a:r>
              <a:rPr sz="1400" dirty="0">
                <a:solidFill>
                  <a:srgbClr val="283748"/>
                </a:solidFill>
                <a:latin typeface="Times New Roman" panose="02020603050405020304" pitchFamily="18" charset="0"/>
                <a:cs typeface="Times New Roman" panose="02020603050405020304" pitchFamily="18" charset="0"/>
              </a:rPr>
              <a:t>, source, </a:t>
            </a:r>
            <a:r>
              <a:rPr sz="1400" dirty="0" err="1">
                <a:solidFill>
                  <a:srgbClr val="283748"/>
                </a:solidFill>
                <a:latin typeface="Times New Roman" panose="02020603050405020304" pitchFamily="18" charset="0"/>
                <a:cs typeface="Times New Roman" panose="02020603050405020304" pitchFamily="18" charset="0"/>
              </a:rPr>
              <a:t>car_availability</a:t>
            </a:r>
            <a:r>
              <a:rPr sz="1400" dirty="0">
                <a:solidFill>
                  <a:srgbClr val="283748"/>
                </a:solidFill>
                <a:latin typeface="Times New Roman" panose="02020603050405020304" pitchFamily="18" charset="0"/>
                <a:cs typeface="Times New Roman" panose="02020603050405020304" pitchFamily="18" charset="0"/>
              </a:rPr>
              <a:t>,</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ad_created_on</a:t>
            </a:r>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emi_starts_from</a:t>
            </a:r>
            <a:r>
              <a:rPr sz="1400" dirty="0">
                <a:solidFill>
                  <a:srgbClr val="283748"/>
                </a:solidFill>
                <a:latin typeface="Times New Roman" panose="02020603050405020304" pitchFamily="18" charset="0"/>
                <a:cs typeface="Times New Roman" panose="02020603050405020304" pitchFamily="18" charset="0"/>
              </a:rPr>
              <a:t>,</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booking_down_pymnt</a:t>
            </a:r>
            <a:r>
              <a:rPr sz="1400" dirty="0">
                <a:solidFill>
                  <a:srgbClr val="283748"/>
                </a:solidFill>
                <a:latin typeface="Times New Roman" panose="02020603050405020304" pitchFamily="18" charset="0"/>
                <a:cs typeface="Times New Roman" panose="02020603050405020304" pitchFamily="18" charset="0"/>
              </a:rPr>
              <a:t> and reserved</a:t>
            </a:r>
            <a:r>
              <a:rPr sz="1150" dirty="0">
                <a:solidFill>
                  <a:srgbClr val="283748"/>
                </a:solidFill>
              </a:rPr>
              <a:t>.</a:t>
            </a:r>
          </a:p>
        </p:txBody>
      </p:sp>
      <p:sp>
        <p:nvSpPr>
          <p:cNvPr id="44" name="Rounded Rectangle 15">
            <a:extLst>
              <a:ext uri="{FF2B5EF4-FFF2-40B4-BE49-F238E27FC236}">
                <a16:creationId xmlns:a16="http://schemas.microsoft.com/office/drawing/2014/main" id="{8582314E-B48E-4633-9A8C-EB23AA288B34}"/>
              </a:ext>
            </a:extLst>
          </p:cNvPr>
          <p:cNvSpPr/>
          <p:nvPr/>
        </p:nvSpPr>
        <p:spPr>
          <a:xfrm>
            <a:off x="800100" y="4357334"/>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DE4A0AE6-A976-C433-1153-E19EDFFA64E6}"/>
              </a:ext>
            </a:extLst>
          </p:cNvPr>
          <p:cNvSpPr/>
          <p:nvPr/>
        </p:nvSpPr>
        <p:spPr>
          <a:xfrm>
            <a:off x="918729" y="4425696"/>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4</a:t>
            </a:r>
          </a:p>
        </p:txBody>
      </p:sp>
      <p:sp>
        <p:nvSpPr>
          <p:cNvPr id="46" name="TextBox 45">
            <a:extLst>
              <a:ext uri="{FF2B5EF4-FFF2-40B4-BE49-F238E27FC236}">
                <a16:creationId xmlns:a16="http://schemas.microsoft.com/office/drawing/2014/main" id="{D39DBD6B-AF14-02E8-399A-D197D6C5CB4C}"/>
              </a:ext>
            </a:extLst>
          </p:cNvPr>
          <p:cNvSpPr txBox="1"/>
          <p:nvPr/>
        </p:nvSpPr>
        <p:spPr>
          <a:xfrm>
            <a:off x="1463040" y="4471416"/>
            <a:ext cx="1470274"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Missing values</a:t>
            </a:r>
          </a:p>
        </p:txBody>
      </p:sp>
      <p:sp>
        <p:nvSpPr>
          <p:cNvPr id="47" name="TextBox 46">
            <a:extLst>
              <a:ext uri="{FF2B5EF4-FFF2-40B4-BE49-F238E27FC236}">
                <a16:creationId xmlns:a16="http://schemas.microsoft.com/office/drawing/2014/main" id="{ADBA7694-ACE3-D5F0-9357-157B9A56582D}"/>
              </a:ext>
            </a:extLst>
          </p:cNvPr>
          <p:cNvSpPr txBox="1"/>
          <p:nvPr/>
        </p:nvSpPr>
        <p:spPr>
          <a:xfrm>
            <a:off x="708357" y="5136751"/>
            <a:ext cx="3084499" cy="523220"/>
          </a:xfrm>
          <a:prstGeom prst="rect">
            <a:avLst/>
          </a:prstGeom>
          <a:noFill/>
        </p:spPr>
        <p:txBody>
          <a:bodyPr wrap="none">
            <a:spAutoFit/>
          </a:bodyPr>
          <a:lstStyle/>
          <a:p>
            <a:r>
              <a:rPr lang="en-IN"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Numeric: median imputation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Categorical: most-frequent imputation</a:t>
            </a:r>
            <a:r>
              <a:rPr sz="1150" dirty="0">
                <a:solidFill>
                  <a:srgbClr val="283748"/>
                </a:solidFill>
              </a:rPr>
              <a:t>.</a:t>
            </a:r>
          </a:p>
        </p:txBody>
      </p:sp>
      <p:sp>
        <p:nvSpPr>
          <p:cNvPr id="48" name="Rounded Rectangle 19">
            <a:extLst>
              <a:ext uri="{FF2B5EF4-FFF2-40B4-BE49-F238E27FC236}">
                <a16:creationId xmlns:a16="http://schemas.microsoft.com/office/drawing/2014/main" id="{0807E0EF-125E-AB5B-6E1D-5EBD8A328113}"/>
              </a:ext>
            </a:extLst>
          </p:cNvPr>
          <p:cNvSpPr/>
          <p:nvPr/>
        </p:nvSpPr>
        <p:spPr>
          <a:xfrm>
            <a:off x="4617720" y="4335265"/>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a:extLst>
              <a:ext uri="{FF2B5EF4-FFF2-40B4-BE49-F238E27FC236}">
                <a16:creationId xmlns:a16="http://schemas.microsoft.com/office/drawing/2014/main" id="{479A1DA7-1746-2EDC-F4B0-80550E35A817}"/>
              </a:ext>
            </a:extLst>
          </p:cNvPr>
          <p:cNvSpPr/>
          <p:nvPr/>
        </p:nvSpPr>
        <p:spPr>
          <a:xfrm>
            <a:off x="4714603" y="4489921"/>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5</a:t>
            </a:r>
          </a:p>
        </p:txBody>
      </p:sp>
      <p:sp>
        <p:nvSpPr>
          <p:cNvPr id="50" name="TextBox 49">
            <a:extLst>
              <a:ext uri="{FF2B5EF4-FFF2-40B4-BE49-F238E27FC236}">
                <a16:creationId xmlns:a16="http://schemas.microsoft.com/office/drawing/2014/main" id="{2507D9FC-28A8-7AE6-85AF-D7AC49255775}"/>
              </a:ext>
            </a:extLst>
          </p:cNvPr>
          <p:cNvSpPr txBox="1"/>
          <p:nvPr/>
        </p:nvSpPr>
        <p:spPr>
          <a:xfrm>
            <a:off x="5257800" y="4536433"/>
            <a:ext cx="1016625"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Encoding</a:t>
            </a:r>
          </a:p>
        </p:txBody>
      </p:sp>
      <p:sp>
        <p:nvSpPr>
          <p:cNvPr id="51" name="TextBox 50">
            <a:extLst>
              <a:ext uri="{FF2B5EF4-FFF2-40B4-BE49-F238E27FC236}">
                <a16:creationId xmlns:a16="http://schemas.microsoft.com/office/drawing/2014/main" id="{D0E51F3A-4F7E-1FF5-4C53-EFC8964BEB57}"/>
              </a:ext>
            </a:extLst>
          </p:cNvPr>
          <p:cNvSpPr txBox="1"/>
          <p:nvPr/>
        </p:nvSpPr>
        <p:spPr>
          <a:xfrm>
            <a:off x="4498848" y="5121075"/>
            <a:ext cx="2444900" cy="738664"/>
          </a:xfrm>
          <a:prstGeom prst="rect">
            <a:avLst/>
          </a:prstGeom>
          <a:noFill/>
        </p:spPr>
        <p:txBody>
          <a:bodyPr wrap="none">
            <a:spAutoFit/>
          </a:bodyPr>
          <a:lstStyle/>
          <a:p>
            <a:r>
              <a:rPr lang="en-US" sz="1400" dirty="0">
                <a:solidFill>
                  <a:srgbClr val="283748"/>
                </a:solidFill>
              </a:rPr>
              <a:t>  </a:t>
            </a:r>
            <a:r>
              <a:rPr sz="1400" dirty="0">
                <a:solidFill>
                  <a:srgbClr val="283748"/>
                </a:solidFill>
                <a:latin typeface="Times New Roman" panose="02020603050405020304" pitchFamily="18" charset="0"/>
                <a:cs typeface="Times New Roman" panose="02020603050405020304" pitchFamily="18" charset="0"/>
              </a:rPr>
              <a:t>One-hot encoded categorical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lang="en-US"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Boolean features; unknown </a:t>
            </a:r>
            <a:endParaRPr lang="en-US" sz="1400" dirty="0">
              <a:solidFill>
                <a:srgbClr val="283748"/>
              </a:solidFill>
              <a:latin typeface="Times New Roman" panose="02020603050405020304" pitchFamily="18" charset="0"/>
              <a:cs typeface="Times New Roman" panose="02020603050405020304" pitchFamily="18" charset="0"/>
            </a:endParaRPr>
          </a:p>
          <a:p>
            <a:r>
              <a:rPr lang="en-US"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categories ignored</a:t>
            </a:r>
            <a:r>
              <a:rPr sz="1150" dirty="0">
                <a:solidFill>
                  <a:srgbClr val="283748"/>
                </a:solidFill>
                <a:latin typeface="Times New Roman" panose="02020603050405020304" pitchFamily="18" charset="0"/>
                <a:cs typeface="Times New Roman" panose="02020603050405020304" pitchFamily="18" charset="0"/>
              </a:rPr>
              <a:t>.</a:t>
            </a:r>
          </a:p>
        </p:txBody>
      </p:sp>
      <p:sp>
        <p:nvSpPr>
          <p:cNvPr id="52" name="Rounded Rectangle 23">
            <a:extLst>
              <a:ext uri="{FF2B5EF4-FFF2-40B4-BE49-F238E27FC236}">
                <a16:creationId xmlns:a16="http://schemas.microsoft.com/office/drawing/2014/main" id="{CCC1325E-E9A4-879E-CD90-494A688800E8}"/>
              </a:ext>
            </a:extLst>
          </p:cNvPr>
          <p:cNvSpPr/>
          <p:nvPr/>
        </p:nvSpPr>
        <p:spPr>
          <a:xfrm>
            <a:off x="8412480" y="4357334"/>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0FE27C42-080D-1F2B-722C-000BA36B13A7}"/>
              </a:ext>
            </a:extLst>
          </p:cNvPr>
          <p:cNvSpPr/>
          <p:nvPr/>
        </p:nvSpPr>
        <p:spPr>
          <a:xfrm>
            <a:off x="8549640" y="4494276"/>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6</a:t>
            </a:r>
          </a:p>
        </p:txBody>
      </p:sp>
      <p:sp>
        <p:nvSpPr>
          <p:cNvPr id="54" name="TextBox 53">
            <a:extLst>
              <a:ext uri="{FF2B5EF4-FFF2-40B4-BE49-F238E27FC236}">
                <a16:creationId xmlns:a16="http://schemas.microsoft.com/office/drawing/2014/main" id="{35691A1D-0746-EE32-5F02-34001AC7A849}"/>
              </a:ext>
            </a:extLst>
          </p:cNvPr>
          <p:cNvSpPr txBox="1"/>
          <p:nvPr/>
        </p:nvSpPr>
        <p:spPr>
          <a:xfrm>
            <a:off x="9067649" y="4539996"/>
            <a:ext cx="2331720" cy="411480"/>
          </a:xfrm>
          <a:prstGeom prst="rect">
            <a:avLst/>
          </a:prstGeom>
          <a:noFill/>
        </p:spPr>
        <p:txBody>
          <a:bodyPr wrap="none">
            <a:spAutoFit/>
          </a:bodyPr>
          <a:lstStyle/>
          <a:p>
            <a:r>
              <a:rPr sz="1400" b="1" dirty="0">
                <a:solidFill>
                  <a:srgbClr val="193960"/>
                </a:solidFill>
              </a:rPr>
              <a:t>Scaling</a:t>
            </a:r>
          </a:p>
        </p:txBody>
      </p:sp>
      <p:sp>
        <p:nvSpPr>
          <p:cNvPr id="55" name="TextBox 54">
            <a:extLst>
              <a:ext uri="{FF2B5EF4-FFF2-40B4-BE49-F238E27FC236}">
                <a16:creationId xmlns:a16="http://schemas.microsoft.com/office/drawing/2014/main" id="{EC9658DF-785D-C484-695D-AD59DE84C08D}"/>
              </a:ext>
            </a:extLst>
          </p:cNvPr>
          <p:cNvSpPr txBox="1"/>
          <p:nvPr/>
        </p:nvSpPr>
        <p:spPr>
          <a:xfrm>
            <a:off x="8458200" y="4370832"/>
            <a:ext cx="2978701" cy="1346522"/>
          </a:xfrm>
          <a:prstGeom prst="rect">
            <a:avLst/>
          </a:prstGeom>
          <a:noFill/>
        </p:spPr>
        <p:txBody>
          <a:bodyPr wrap="none">
            <a:spAutoFit/>
          </a:bodyPr>
          <a:lstStyle/>
          <a:p>
            <a:endParaRPr lang="en-IN" sz="1150" dirty="0">
              <a:solidFill>
                <a:srgbClr val="283748"/>
              </a:solidFill>
            </a:endParaRPr>
          </a:p>
          <a:p>
            <a:endParaRPr lang="en-IN" sz="1400" dirty="0">
              <a:solidFill>
                <a:srgbClr val="283748"/>
              </a:solidFill>
              <a:latin typeface="Times New Roman" panose="02020603050405020304" pitchFamily="18" charset="0"/>
              <a:cs typeface="Times New Roman" panose="02020603050405020304" pitchFamily="18" charset="0"/>
            </a:endParaRPr>
          </a:p>
          <a:p>
            <a:endParaRPr lang="en-IN" sz="1400" dirty="0">
              <a:solidFill>
                <a:srgbClr val="283748"/>
              </a:solidFill>
              <a:latin typeface="Times New Roman" panose="02020603050405020304" pitchFamily="18" charset="0"/>
              <a:cs typeface="Times New Roman" panose="02020603050405020304" pitchFamily="18" charset="0"/>
            </a:endParaRPr>
          </a:p>
          <a:p>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Standardized numerical features using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err="1">
                <a:solidFill>
                  <a:srgbClr val="283748"/>
                </a:solidFill>
                <a:latin typeface="Times New Roman" panose="02020603050405020304" pitchFamily="18" charset="0"/>
                <a:cs typeface="Times New Roman" panose="02020603050405020304" pitchFamily="18" charset="0"/>
              </a:rPr>
              <a:t>StandardScaler</a:t>
            </a:r>
            <a:r>
              <a:rPr sz="1400" dirty="0">
                <a:solidFill>
                  <a:srgbClr val="283748"/>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42571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202682" y="3794760"/>
            <a:ext cx="5364478"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379476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172200" y="132588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32588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2391065" y="269855"/>
            <a:ext cx="6421501" cy="1000274"/>
          </a:xfrm>
          <a:prstGeom prst="rect">
            <a:avLst/>
          </a:prstGeom>
          <a:noFill/>
        </p:spPr>
        <p:txBody>
          <a:bodyPr wrap="none">
            <a:spAutoFit/>
          </a:bodyPr>
          <a:lstStyle/>
          <a:p>
            <a:r>
              <a:rPr lang="en-IN" sz="2700" b="1" dirty="0">
                <a:solidFill>
                  <a:srgbClr val="193960"/>
                </a:solidFill>
                <a:latin typeface="Aptos Display"/>
              </a:rPr>
              <a:t>                 </a:t>
            </a:r>
          </a:p>
          <a:p>
            <a:r>
              <a:rPr lang="en-IN" sz="3200" b="1" dirty="0">
                <a:solidFill>
                  <a:srgbClr val="193960"/>
                </a:solidFill>
                <a:latin typeface="Times New Roman" panose="02020603050405020304" pitchFamily="18" charset="0"/>
                <a:cs typeface="Times New Roman" panose="02020603050405020304" pitchFamily="18" charset="0"/>
              </a:rPr>
              <a:t>                      </a:t>
            </a:r>
            <a:r>
              <a:rPr sz="3200" b="1" dirty="0">
                <a:solidFill>
                  <a:srgbClr val="193960"/>
                </a:solidFill>
                <a:latin typeface="Times New Roman" panose="02020603050405020304" pitchFamily="18" charset="0"/>
                <a:cs typeface="Times New Roman" panose="02020603050405020304" pitchFamily="18" charset="0"/>
              </a:rPr>
              <a:t>EDA &amp; Visual Insights</a:t>
            </a:r>
          </a:p>
        </p:txBody>
      </p:sp>
      <p:pic>
        <p:nvPicPr>
          <p:cNvPr id="4" name="Picture 3" descr="cell8.png"/>
          <p:cNvPicPr>
            <a:picLocks noChangeAspect="1"/>
          </p:cNvPicPr>
          <p:nvPr/>
        </p:nvPicPr>
        <p:blipFill>
          <a:blip r:embed="rId2"/>
          <a:stretch>
            <a:fillRect/>
          </a:stretch>
        </p:blipFill>
        <p:spPr>
          <a:xfrm>
            <a:off x="1161044" y="1325880"/>
            <a:ext cx="4261590" cy="2331720"/>
          </a:xfrm>
          <a:prstGeom prst="rect">
            <a:avLst/>
          </a:prstGeom>
        </p:spPr>
      </p:pic>
      <p:pic>
        <p:nvPicPr>
          <p:cNvPr id="6" name="Picture 5" descr="cell9.png"/>
          <p:cNvPicPr>
            <a:picLocks noChangeAspect="1"/>
          </p:cNvPicPr>
          <p:nvPr/>
        </p:nvPicPr>
        <p:blipFill>
          <a:blip r:embed="rId3"/>
          <a:stretch>
            <a:fillRect/>
          </a:stretch>
        </p:blipFill>
        <p:spPr>
          <a:xfrm>
            <a:off x="7066540" y="1325880"/>
            <a:ext cx="3606279" cy="2331720"/>
          </a:xfrm>
          <a:prstGeom prst="rect">
            <a:avLst/>
          </a:prstGeom>
        </p:spPr>
      </p:pic>
      <p:pic>
        <p:nvPicPr>
          <p:cNvPr id="8" name="Picture 7" descr="cell10.png"/>
          <p:cNvPicPr>
            <a:picLocks noChangeAspect="1"/>
          </p:cNvPicPr>
          <p:nvPr/>
        </p:nvPicPr>
        <p:blipFill>
          <a:blip r:embed="rId4"/>
          <a:stretch>
            <a:fillRect/>
          </a:stretch>
        </p:blipFill>
        <p:spPr>
          <a:xfrm>
            <a:off x="1488700" y="3794760"/>
            <a:ext cx="3606279" cy="2331720"/>
          </a:xfrm>
          <a:prstGeom prst="rect">
            <a:avLst/>
          </a:prstGeom>
        </p:spPr>
      </p:pic>
      <p:pic>
        <p:nvPicPr>
          <p:cNvPr id="10" name="Picture 9" descr="cell11.png"/>
          <p:cNvPicPr>
            <a:picLocks noChangeAspect="1"/>
          </p:cNvPicPr>
          <p:nvPr/>
        </p:nvPicPr>
        <p:blipFill>
          <a:blip r:embed="rId5"/>
          <a:stretch>
            <a:fillRect/>
          </a:stretch>
        </p:blipFill>
        <p:spPr>
          <a:xfrm>
            <a:off x="7046740" y="3794760"/>
            <a:ext cx="3645879" cy="2331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6864" y="644652"/>
            <a:ext cx="2752805" cy="507831"/>
          </a:xfrm>
          <a:prstGeom prst="rect">
            <a:avLst/>
          </a:prstGeom>
          <a:noFill/>
        </p:spPr>
        <p:txBody>
          <a:bodyPr wrap="none">
            <a:spAutoFit/>
          </a:bodyPr>
          <a:lstStyle/>
          <a:p>
            <a:r>
              <a:rPr sz="2700" b="1" dirty="0">
                <a:solidFill>
                  <a:srgbClr val="193960"/>
                </a:solidFill>
                <a:latin typeface="Times New Roman" panose="02020603050405020304" pitchFamily="18" charset="0"/>
                <a:cs typeface="Times New Roman" panose="02020603050405020304" pitchFamily="18" charset="0"/>
              </a:rPr>
              <a:t>ML Methodology</a:t>
            </a:r>
          </a:p>
        </p:txBody>
      </p:sp>
      <p:sp>
        <p:nvSpPr>
          <p:cNvPr id="4" name="Rounded Rectangle 3"/>
          <p:cNvSpPr/>
          <p:nvPr/>
        </p:nvSpPr>
        <p:spPr>
          <a:xfrm>
            <a:off x="2561893" y="1826514"/>
            <a:ext cx="1654389"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Raw dataset</a:t>
            </a:r>
          </a:p>
          <a:p>
            <a:pPr algn="ctr"/>
            <a:r>
              <a:rPr sz="1100" dirty="0">
                <a:solidFill>
                  <a:srgbClr val="64748B"/>
                </a:solidFill>
                <a:latin typeface="Times New Roman" panose="02020603050405020304" pitchFamily="18" charset="0"/>
                <a:cs typeface="Times New Roman" panose="02020603050405020304" pitchFamily="18" charset="0"/>
              </a:rPr>
              <a:t>7,400 rows</a:t>
            </a:r>
            <a:r>
              <a:rPr lang="en-IN" sz="1100" dirty="0">
                <a:solidFill>
                  <a:srgbClr val="64748B"/>
                </a:solidFill>
                <a:latin typeface="Times New Roman" panose="02020603050405020304" pitchFamily="18" charset="0"/>
                <a:cs typeface="Times New Roman" panose="02020603050405020304" pitchFamily="18" charset="0"/>
              </a:rPr>
              <a:t>,</a:t>
            </a:r>
          </a:p>
          <a:p>
            <a:pPr algn="ctr"/>
            <a:r>
              <a:rPr lang="en-IN" sz="1100" dirty="0">
                <a:solidFill>
                  <a:srgbClr val="64748B"/>
                </a:solidFill>
                <a:latin typeface="Times New Roman" panose="02020603050405020304" pitchFamily="18" charset="0"/>
                <a:cs typeface="Times New Roman" panose="02020603050405020304" pitchFamily="18" charset="0"/>
              </a:rPr>
              <a:t>29 columns</a:t>
            </a:r>
            <a:endParaRPr sz="1100" dirty="0">
              <a:solidFill>
                <a:srgbClr val="64748B"/>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a:off x="4719369" y="1849374"/>
            <a:ext cx="1762169"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rPr>
              <a:t>Clean</a:t>
            </a:r>
            <a:endParaRPr lang="en-IN" sz="1100" b="1" dirty="0">
              <a:solidFill>
                <a:srgbClr val="193960"/>
              </a:solidFill>
            </a:endParaRPr>
          </a:p>
          <a:p>
            <a:pPr algn="ctr"/>
            <a:r>
              <a:rPr sz="1100" dirty="0">
                <a:solidFill>
                  <a:srgbClr val="64748B"/>
                </a:solidFill>
              </a:rPr>
              <a:t>duplicates</a:t>
            </a:r>
            <a:r>
              <a:rPr lang="en-IN" sz="1100" dirty="0">
                <a:solidFill>
                  <a:srgbClr val="64748B"/>
                </a:solidFill>
              </a:rPr>
              <a:t>+leakage</a:t>
            </a:r>
            <a:endParaRPr sz="1100" dirty="0">
              <a:solidFill>
                <a:srgbClr val="64748B"/>
              </a:solidFill>
            </a:endParaRPr>
          </a:p>
        </p:txBody>
      </p:sp>
      <p:sp>
        <p:nvSpPr>
          <p:cNvPr id="6" name="Rounded Rectangle 5"/>
          <p:cNvSpPr/>
          <p:nvPr/>
        </p:nvSpPr>
        <p:spPr>
          <a:xfrm>
            <a:off x="7084595" y="1899666"/>
            <a:ext cx="1586614"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Prepare</a:t>
            </a:r>
          </a:p>
          <a:p>
            <a:pPr algn="ctr"/>
            <a:r>
              <a:rPr sz="1100" dirty="0">
                <a:solidFill>
                  <a:srgbClr val="64748B"/>
                </a:solidFill>
                <a:latin typeface="Times New Roman" panose="02020603050405020304" pitchFamily="18" charset="0"/>
                <a:cs typeface="Times New Roman" panose="02020603050405020304" pitchFamily="18" charset="0"/>
              </a:rPr>
              <a:t>impute + encode + scale</a:t>
            </a:r>
          </a:p>
        </p:txBody>
      </p:sp>
      <p:sp>
        <p:nvSpPr>
          <p:cNvPr id="7" name="Rounded Rectangle 6"/>
          <p:cNvSpPr/>
          <p:nvPr/>
        </p:nvSpPr>
        <p:spPr>
          <a:xfrm>
            <a:off x="9274265" y="1849374"/>
            <a:ext cx="1683546"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Split</a:t>
            </a:r>
          </a:p>
          <a:p>
            <a:pPr algn="ctr"/>
            <a:r>
              <a:rPr sz="1100" dirty="0">
                <a:solidFill>
                  <a:srgbClr val="64748B"/>
                </a:solidFill>
                <a:latin typeface="Times New Roman" panose="02020603050405020304" pitchFamily="18" charset="0"/>
                <a:cs typeface="Times New Roman" panose="02020603050405020304" pitchFamily="18" charset="0"/>
              </a:rPr>
              <a:t>80% train / 20% test</a:t>
            </a:r>
          </a:p>
        </p:txBody>
      </p:sp>
      <p:sp>
        <p:nvSpPr>
          <p:cNvPr id="8" name="Rounded Rectangle 7"/>
          <p:cNvSpPr/>
          <p:nvPr/>
        </p:nvSpPr>
        <p:spPr>
          <a:xfrm>
            <a:off x="9274265" y="3471084"/>
            <a:ext cx="1683546"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Train</a:t>
            </a:r>
          </a:p>
          <a:p>
            <a:pPr algn="ctr"/>
            <a:r>
              <a:rPr sz="1100" dirty="0">
                <a:solidFill>
                  <a:srgbClr val="64748B"/>
                </a:solidFill>
                <a:latin typeface="Times New Roman" panose="02020603050405020304" pitchFamily="18" charset="0"/>
                <a:cs typeface="Times New Roman" panose="02020603050405020304" pitchFamily="18" charset="0"/>
              </a:rPr>
              <a:t>4 regression models</a:t>
            </a:r>
          </a:p>
        </p:txBody>
      </p:sp>
      <p:sp>
        <p:nvSpPr>
          <p:cNvPr id="9" name="Rounded Rectangle 8"/>
          <p:cNvSpPr/>
          <p:nvPr/>
        </p:nvSpPr>
        <p:spPr>
          <a:xfrm>
            <a:off x="7084594" y="3584448"/>
            <a:ext cx="1586614"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Evaluate</a:t>
            </a:r>
          </a:p>
          <a:p>
            <a:pPr algn="ctr"/>
            <a:r>
              <a:rPr sz="1100" dirty="0">
                <a:solidFill>
                  <a:srgbClr val="64748B"/>
                </a:solidFill>
                <a:latin typeface="Times New Roman" panose="02020603050405020304" pitchFamily="18" charset="0"/>
                <a:cs typeface="Times New Roman" panose="02020603050405020304" pitchFamily="18" charset="0"/>
              </a:rPr>
              <a:t>MAE • RMSE • R²</a:t>
            </a:r>
          </a:p>
        </p:txBody>
      </p:sp>
      <p:sp>
        <p:nvSpPr>
          <p:cNvPr id="10" name="Rounded Rectangle 9"/>
          <p:cNvSpPr/>
          <p:nvPr/>
        </p:nvSpPr>
        <p:spPr>
          <a:xfrm>
            <a:off x="4787015" y="3577590"/>
            <a:ext cx="1664292"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Select</a:t>
            </a:r>
          </a:p>
          <a:p>
            <a:pPr algn="ctr"/>
            <a:r>
              <a:rPr sz="1100" dirty="0">
                <a:solidFill>
                  <a:srgbClr val="64748B"/>
                </a:solidFill>
                <a:latin typeface="Times New Roman" panose="02020603050405020304" pitchFamily="18" charset="0"/>
                <a:cs typeface="Times New Roman" panose="02020603050405020304" pitchFamily="18" charset="0"/>
              </a:rPr>
              <a:t>best R² / </a:t>
            </a:r>
            <a:r>
              <a:rPr lang="en-IN" sz="1100" dirty="0">
                <a:solidFill>
                  <a:srgbClr val="64748B"/>
                </a:solidFill>
                <a:latin typeface="Times New Roman" panose="02020603050405020304" pitchFamily="18" charset="0"/>
                <a:cs typeface="Times New Roman" panose="02020603050405020304" pitchFamily="18" charset="0"/>
              </a:rPr>
              <a:t>less </a:t>
            </a:r>
            <a:r>
              <a:rPr sz="1100" dirty="0">
                <a:solidFill>
                  <a:srgbClr val="64748B"/>
                </a:solidFill>
                <a:latin typeface="Times New Roman" panose="02020603050405020304" pitchFamily="18" charset="0"/>
                <a:cs typeface="Times New Roman" panose="02020603050405020304" pitchFamily="18" charset="0"/>
              </a:rPr>
              <a:t>errors</a:t>
            </a:r>
          </a:p>
        </p:txBody>
      </p:sp>
      <p:sp>
        <p:nvSpPr>
          <p:cNvPr id="11" name="Rounded Rectangle 10"/>
          <p:cNvSpPr/>
          <p:nvPr/>
        </p:nvSpPr>
        <p:spPr>
          <a:xfrm>
            <a:off x="2567112" y="3584448"/>
            <a:ext cx="1649170"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Predict</a:t>
            </a:r>
          </a:p>
          <a:p>
            <a:pPr algn="ctr"/>
            <a:r>
              <a:rPr sz="1100" dirty="0">
                <a:solidFill>
                  <a:srgbClr val="64748B"/>
                </a:solidFill>
                <a:latin typeface="Times New Roman" panose="02020603050405020304" pitchFamily="18" charset="0"/>
                <a:cs typeface="Times New Roman" panose="02020603050405020304" pitchFamily="18" charset="0"/>
              </a:rPr>
              <a:t>new car price</a:t>
            </a:r>
          </a:p>
        </p:txBody>
      </p:sp>
      <p:sp>
        <p:nvSpPr>
          <p:cNvPr id="12" name="Right Arrow 11"/>
          <p:cNvSpPr/>
          <p:nvPr/>
        </p:nvSpPr>
        <p:spPr>
          <a:xfrm>
            <a:off x="4216282" y="2194560"/>
            <a:ext cx="509441" cy="292608"/>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6481538" y="2194560"/>
            <a:ext cx="603056" cy="305687"/>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Right Arrow 13"/>
          <p:cNvSpPr/>
          <p:nvPr/>
        </p:nvSpPr>
        <p:spPr>
          <a:xfrm>
            <a:off x="8671209" y="2194560"/>
            <a:ext cx="603055" cy="349458"/>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rot="10800000">
            <a:off x="4216282" y="3943987"/>
            <a:ext cx="570602" cy="327404"/>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rot="10800000">
            <a:off x="6451307" y="3943987"/>
            <a:ext cx="633286" cy="327404"/>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rot="10800000">
            <a:off x="8671208" y="3893058"/>
            <a:ext cx="603055" cy="310896"/>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17"/>
          <p:cNvSpPr/>
          <p:nvPr/>
        </p:nvSpPr>
        <p:spPr>
          <a:xfrm>
            <a:off x="10044544" y="2827782"/>
            <a:ext cx="361627" cy="629587"/>
          </a:xfrm>
          <a:prstGeom prst="down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40121" y="5006339"/>
            <a:ext cx="10561320" cy="796463"/>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960" y="5440680"/>
            <a:ext cx="64008" cy="594360"/>
          </a:xfrm>
          <a:prstGeom prst="rect">
            <a:avLst/>
          </a:prstGeom>
          <a:solidFill>
            <a:srgbClr val="1C8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5013198"/>
            <a:ext cx="1574149" cy="323165"/>
          </a:xfrm>
          <a:prstGeom prst="rect">
            <a:avLst/>
          </a:prstGeom>
          <a:noFill/>
        </p:spPr>
        <p:txBody>
          <a:bodyPr wrap="none">
            <a:spAutoFit/>
          </a:bodyPr>
          <a:lstStyle/>
          <a:p>
            <a:r>
              <a:rPr lang="en-IN" sz="1500" b="1" dirty="0">
                <a:solidFill>
                  <a:srgbClr val="193960"/>
                </a:solidFill>
                <a:latin typeface="Times New Roman" panose="02020603050405020304" pitchFamily="18" charset="0"/>
                <a:cs typeface="Times New Roman" panose="02020603050405020304" pitchFamily="18" charset="0"/>
              </a:rPr>
              <a:t>  </a:t>
            </a:r>
            <a:r>
              <a:rPr sz="1500" b="1" dirty="0">
                <a:solidFill>
                  <a:srgbClr val="193960"/>
                </a:solidFill>
                <a:latin typeface="Times New Roman" panose="02020603050405020304" pitchFamily="18" charset="0"/>
                <a:cs typeface="Times New Roman" panose="02020603050405020304" pitchFamily="18" charset="0"/>
              </a:rPr>
              <a:t>Evaluation rule</a:t>
            </a:r>
          </a:p>
        </p:txBody>
      </p:sp>
      <p:sp>
        <p:nvSpPr>
          <p:cNvPr id="22" name="TextBox 21"/>
          <p:cNvSpPr txBox="1"/>
          <p:nvPr/>
        </p:nvSpPr>
        <p:spPr>
          <a:xfrm>
            <a:off x="1280160" y="5368765"/>
            <a:ext cx="10241280" cy="276999"/>
          </a:xfrm>
          <a:prstGeom prst="rect">
            <a:avLst/>
          </a:prstGeom>
          <a:noFill/>
        </p:spPr>
        <p:txBody>
          <a:bodyPr wrap="square">
            <a:spAutoFit/>
          </a:bodyPr>
          <a:lstStyle/>
          <a:p>
            <a:r>
              <a:rPr lang="en-IN" sz="1150" dirty="0">
                <a:solidFill>
                  <a:srgbClr val="283748"/>
                </a:solidFill>
                <a:latin typeface="Aptos"/>
              </a:rPr>
              <a:t>  </a:t>
            </a:r>
            <a:r>
              <a:rPr sz="1200" dirty="0">
                <a:solidFill>
                  <a:srgbClr val="283748"/>
                </a:solidFill>
                <a:latin typeface="Times New Roman" panose="02020603050405020304" pitchFamily="18" charset="0"/>
                <a:cs typeface="Times New Roman" panose="02020603050405020304" pitchFamily="18" charset="0"/>
              </a:rPr>
              <a:t>Lower MAE/RMSE is better; higher R² is better. The notebook selects Gradient Boosting as the final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7972A-B264-82B3-A5EC-94C5E8567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AD6A-4D14-3E94-E6DC-20174A4B0927}"/>
              </a:ext>
            </a:extLst>
          </p:cNvPr>
          <p:cNvSpPr>
            <a:spLocks noGrp="1"/>
          </p:cNvSpPr>
          <p:nvPr>
            <p:ph type="title"/>
          </p:nvPr>
        </p:nvSpPr>
        <p:spPr>
          <a:xfrm>
            <a:off x="2592925" y="624110"/>
            <a:ext cx="8911687" cy="741227"/>
          </a:xfrm>
        </p:spPr>
        <p:txBody>
          <a:bodyPr>
            <a:normAutofit fontScale="90000"/>
          </a:bodyPr>
          <a:lstStyle/>
          <a:p>
            <a:r>
              <a:rPr lang="en-IN" b="1" dirty="0">
                <a:solidFill>
                  <a:schemeClr val="tx1"/>
                </a:solidFill>
                <a:latin typeface="Times New Roman" panose="02020603050405020304" pitchFamily="18" charset="0"/>
                <a:cs typeface="Times New Roman" panose="02020603050405020304" pitchFamily="18" charset="0"/>
              </a:rPr>
              <a:t>                 Models Implemented</a:t>
            </a:r>
            <a:br>
              <a:rPr lang="en-IN" b="1" dirty="0">
                <a:solidFill>
                  <a:srgbClr val="193960"/>
                </a:solidFill>
                <a:latin typeface="Aptos Display"/>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61A7D265-0772-2C31-1519-28007E327715}"/>
              </a:ext>
            </a:extLst>
          </p:cNvPr>
          <p:cNvSpPr txBox="1">
            <a:spLocks/>
          </p:cNvSpPr>
          <p:nvPr/>
        </p:nvSpPr>
        <p:spPr>
          <a:xfrm>
            <a:off x="1143000" y="1365337"/>
            <a:ext cx="9905999" cy="52985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b="1" u="sng" dirty="0">
                <a:solidFill>
                  <a:srgbClr val="193960"/>
                </a:solidFill>
                <a:latin typeface="Times New Roman" panose="02020603050405020304" pitchFamily="18" charset="0"/>
                <a:cs typeface="Times New Roman" panose="02020603050405020304" pitchFamily="18" charset="0"/>
              </a:rPr>
              <a:t>Linear Regression:</a:t>
            </a:r>
          </a:p>
          <a:p>
            <a:pPr marL="0" indent="0">
              <a:buNone/>
            </a:pPr>
            <a:r>
              <a:rPr lang="en-US" dirty="0">
                <a:latin typeface="Times New Roman" panose="02020603050405020304" pitchFamily="18" charset="0"/>
                <a:cs typeface="Times New Roman" panose="02020603050405020304" pitchFamily="18" charset="0"/>
              </a:rPr>
              <a:t>Simple linear relationship modeling between features and target variable for baseline prediction performance.</a:t>
            </a:r>
            <a:endParaRPr lang="en-US" dirty="0">
              <a:solidFill>
                <a:srgbClr val="283748"/>
              </a:solidFill>
              <a:latin typeface="Times New Roman" panose="02020603050405020304" pitchFamily="18" charset="0"/>
              <a:cs typeface="Times New Roman" panose="02020603050405020304" pitchFamily="18" charset="0"/>
            </a:endParaRPr>
          </a:p>
          <a:p>
            <a:pPr marL="0" indent="0">
              <a:buNone/>
            </a:pPr>
            <a:r>
              <a:rPr lang="en-IN" b="1" u="sng" dirty="0">
                <a:solidFill>
                  <a:srgbClr val="193960"/>
                </a:solidFill>
                <a:latin typeface="Times New Roman" panose="02020603050405020304" pitchFamily="18" charset="0"/>
                <a:cs typeface="Times New Roman" panose="02020603050405020304" pitchFamily="18" charset="0"/>
              </a:rPr>
              <a:t>Random Forest:</a:t>
            </a:r>
          </a:p>
          <a:p>
            <a:pPr marL="0" indent="0">
              <a:buNone/>
            </a:pPr>
            <a:r>
              <a:rPr lang="en-US" dirty="0">
                <a:solidFill>
                  <a:srgbClr val="283748"/>
                </a:solidFill>
                <a:latin typeface="Times New Roman" panose="02020603050405020304" pitchFamily="18" charset="0"/>
                <a:cs typeface="Times New Roman" panose="02020603050405020304" pitchFamily="18" charset="0"/>
              </a:rPr>
              <a:t>Ensemble of decision trees that captures nonlinear interactions.</a:t>
            </a:r>
          </a:p>
          <a:p>
            <a:pPr marL="0" indent="0">
              <a:buNone/>
            </a:pPr>
            <a:r>
              <a:rPr lang="en-IN" b="1" u="sng" dirty="0">
                <a:solidFill>
                  <a:srgbClr val="193960"/>
                </a:solidFill>
                <a:latin typeface="Times New Roman" panose="02020603050405020304" pitchFamily="18" charset="0"/>
                <a:cs typeface="Times New Roman" panose="02020603050405020304" pitchFamily="18" charset="0"/>
              </a:rPr>
              <a:t>Gradient Boosting:</a:t>
            </a:r>
          </a:p>
          <a:p>
            <a:pPr marL="0" indent="0">
              <a:buNone/>
            </a:pPr>
            <a:r>
              <a:rPr lang="en-US" dirty="0">
                <a:solidFill>
                  <a:srgbClr val="283748"/>
                </a:solidFill>
                <a:latin typeface="Times New Roman" panose="02020603050405020304" pitchFamily="18" charset="0"/>
                <a:cs typeface="Times New Roman" panose="02020603050405020304" pitchFamily="18" charset="0"/>
              </a:rPr>
              <a:t>Sequentially improves weak decision trees and gives strong performance on structured tabular data.</a:t>
            </a:r>
          </a:p>
          <a:p>
            <a:pPr marL="0" indent="0">
              <a:buNone/>
            </a:pPr>
            <a:r>
              <a:rPr lang="en-IN" b="1" u="sng" dirty="0">
                <a:solidFill>
                  <a:srgbClr val="002060"/>
                </a:solidFill>
                <a:latin typeface="Times New Roman" panose="02020603050405020304" pitchFamily="18" charset="0"/>
                <a:cs typeface="Times New Roman" panose="02020603050405020304" pitchFamily="18" charset="0"/>
              </a:rPr>
              <a:t>ANN:</a:t>
            </a:r>
          </a:p>
          <a:p>
            <a:pPr marL="0" indent="0">
              <a:buNone/>
            </a:pPr>
            <a:r>
              <a:rPr lang="en-US" dirty="0">
                <a:solidFill>
                  <a:srgbClr val="283748"/>
                </a:solidFill>
                <a:latin typeface="Times New Roman" panose="02020603050405020304" pitchFamily="18" charset="0"/>
                <a:cs typeface="Times New Roman" panose="02020603050405020304" pitchFamily="18" charset="0"/>
              </a:rPr>
              <a:t>Dense neural network with ReLU layers and dropout for nonlinear function approximation.</a:t>
            </a:r>
          </a:p>
          <a:p>
            <a:pPr marL="0" indent="0">
              <a:buNone/>
            </a:pPr>
            <a:endParaRPr lang="en-IN"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5EDAFBCC-90CB-3492-A04F-65FACA8ED579}"/>
              </a:ext>
            </a:extLst>
          </p:cNvPr>
          <p:cNvSpPr>
            <a:spLocks noGrp="1"/>
          </p:cNvSpPr>
          <p:nvPr>
            <p:ph idx="1"/>
          </p:nvPr>
        </p:nvSpPr>
        <p:spPr>
          <a:xfrm>
            <a:off x="2789628" y="-1824625"/>
            <a:ext cx="103884" cy="133611"/>
          </a:xfrm>
        </p:spPr>
        <p:txBody>
          <a:bodyPr>
            <a:normAutofit fontScale="25000" lnSpcReduction="20000"/>
          </a:bodyPr>
          <a:lstStyle/>
          <a:p>
            <a:r>
              <a:rPr lang="en-IN" dirty="0"/>
              <a:t> </a:t>
            </a:r>
          </a:p>
        </p:txBody>
      </p:sp>
    </p:spTree>
    <p:extLst>
      <p:ext uri="{BB962C8B-B14F-4D97-AF65-F5344CB8AC3E}">
        <p14:creationId xmlns:p14="http://schemas.microsoft.com/office/powerpoint/2010/main" val="261040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07372" y="671073"/>
            <a:ext cx="3318537" cy="584775"/>
          </a:xfrm>
          <a:prstGeom prst="rect">
            <a:avLst/>
          </a:prstGeom>
          <a:noFill/>
        </p:spPr>
        <p:txBody>
          <a:bodyPr wrap="none">
            <a:spAutoFit/>
          </a:bodyPr>
          <a:lstStyle/>
          <a:p>
            <a:r>
              <a:rPr sz="3200" b="1" dirty="0">
                <a:solidFill>
                  <a:srgbClr val="193960"/>
                </a:solidFill>
                <a:latin typeface="Times New Roman" panose="02020603050405020304" pitchFamily="18" charset="0"/>
                <a:cs typeface="Times New Roman" panose="02020603050405020304" pitchFamily="18" charset="0"/>
              </a:rPr>
              <a:t>Model Evaluation</a:t>
            </a:r>
          </a:p>
        </p:txBody>
      </p:sp>
      <p:sp>
        <p:nvSpPr>
          <p:cNvPr id="3" name="TextBox 2"/>
          <p:cNvSpPr txBox="1"/>
          <p:nvPr/>
        </p:nvSpPr>
        <p:spPr>
          <a:xfrm>
            <a:off x="1949985" y="1642120"/>
            <a:ext cx="9981282" cy="1023165"/>
          </a:xfrm>
          <a:prstGeom prst="rect">
            <a:avLst/>
          </a:prstGeom>
          <a:noFill/>
        </p:spPr>
        <p:txBody>
          <a:bodyPr wrap="square">
            <a:spAutoFit/>
          </a:bodyPr>
          <a:lstStyle/>
          <a:p>
            <a:pPr>
              <a:lnSpc>
                <a:spcPct val="150000"/>
              </a:lnSpc>
            </a:pPr>
            <a:r>
              <a:rPr lang="en-US" sz="1400" dirty="0">
                <a:solidFill>
                  <a:srgbClr val="64748B"/>
                </a:solidFill>
                <a:latin typeface="Times New Roman" panose="02020603050405020304" pitchFamily="18" charset="0"/>
                <a:cs typeface="Times New Roman" panose="02020603050405020304" pitchFamily="18" charset="0"/>
              </a:rPr>
              <a:t>The models were evaluated on the basis of Mean Absolute Error (MAE) , Root Mean Square Error and R2 score. The model having the best R2 score and less possible error is chosen to be the best. Upon Evaluation, Gradient Boosting is found to be the best with highest R2 score(0.9278) and the lowest error.</a:t>
            </a:r>
            <a:endParaRPr sz="1400" dirty="0">
              <a:solidFill>
                <a:srgbClr val="64748B"/>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3166241" y="2990193"/>
          <a:ext cx="6400800" cy="3383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676656">
                <a:tc>
                  <a:txBody>
                    <a:bodyPr/>
                    <a:lstStyle/>
                    <a:p>
                      <a:pPr algn="ctr"/>
                      <a:r>
                        <a:rPr sz="1200" b="1" dirty="0">
                          <a:solidFill>
                            <a:srgbClr val="FFFFFF"/>
                          </a:solidFill>
                          <a:latin typeface="Times New Roman" panose="02020603050405020304" pitchFamily="18" charset="0"/>
                          <a:cs typeface="Times New Roman" panose="02020603050405020304" pitchFamily="18" charset="0"/>
                        </a:rPr>
                        <a:t>Model</a:t>
                      </a:r>
                    </a:p>
                  </a:txBody>
                  <a:tcPr marL="73152" marR="73152">
                    <a:solidFill>
                      <a:srgbClr val="193960"/>
                    </a:solidFill>
                  </a:tcPr>
                </a:tc>
                <a:tc>
                  <a:txBody>
                    <a:bodyPr/>
                    <a:lstStyle/>
                    <a:p>
                      <a:pPr algn="ctr"/>
                      <a:r>
                        <a:rPr sz="1200" b="1" dirty="0">
                          <a:solidFill>
                            <a:srgbClr val="FFFFFF"/>
                          </a:solidFill>
                          <a:latin typeface="Times New Roman" panose="02020603050405020304" pitchFamily="18" charset="0"/>
                          <a:cs typeface="Times New Roman" panose="02020603050405020304" pitchFamily="18" charset="0"/>
                        </a:rPr>
                        <a:t>MAE (₹)</a:t>
                      </a:r>
                    </a:p>
                  </a:txBody>
                  <a:tcPr marL="73152" marR="73152">
                    <a:solidFill>
                      <a:srgbClr val="193960"/>
                    </a:solidFill>
                  </a:tcPr>
                </a:tc>
                <a:tc>
                  <a:txBody>
                    <a:bodyPr/>
                    <a:lstStyle/>
                    <a:p>
                      <a:pPr algn="ctr"/>
                      <a:r>
                        <a:rPr sz="1200" b="1">
                          <a:solidFill>
                            <a:srgbClr val="FFFFFF"/>
                          </a:solidFill>
                          <a:latin typeface="Times New Roman" panose="02020603050405020304" pitchFamily="18" charset="0"/>
                          <a:cs typeface="Times New Roman" panose="02020603050405020304" pitchFamily="18" charset="0"/>
                        </a:rPr>
                        <a:t>RMSE (₹)</a:t>
                      </a:r>
                    </a:p>
                  </a:txBody>
                  <a:tcPr marL="73152" marR="73152">
                    <a:solidFill>
                      <a:srgbClr val="193960"/>
                    </a:solidFill>
                  </a:tcPr>
                </a:tc>
                <a:tc>
                  <a:txBody>
                    <a:bodyPr/>
                    <a:lstStyle/>
                    <a:p>
                      <a:pPr algn="ctr"/>
                      <a:r>
                        <a:rPr sz="1200" b="1" dirty="0">
                          <a:solidFill>
                            <a:srgbClr val="FFFFFF"/>
                          </a:solidFill>
                          <a:latin typeface="Times New Roman" panose="02020603050405020304" pitchFamily="18" charset="0"/>
                          <a:cs typeface="Times New Roman" panose="02020603050405020304" pitchFamily="18" charset="0"/>
                        </a:rPr>
                        <a:t>R</a:t>
                      </a:r>
                      <a:r>
                        <a:rPr lang="en-US" sz="1200" b="1" dirty="0">
                          <a:solidFill>
                            <a:srgbClr val="FFFFFF"/>
                          </a:solidFill>
                          <a:latin typeface="Times New Roman" panose="02020603050405020304" pitchFamily="18" charset="0"/>
                          <a:cs typeface="Times New Roman" panose="02020603050405020304" pitchFamily="18" charset="0"/>
                        </a:rPr>
                        <a:t>2</a:t>
                      </a:r>
                      <a:endParaRPr sz="1200" b="1" dirty="0">
                        <a:solidFill>
                          <a:srgbClr val="FFFFFF"/>
                        </a:solidFill>
                        <a:latin typeface="Times New Roman" panose="02020603050405020304" pitchFamily="18" charset="0"/>
                        <a:cs typeface="Times New Roman" panose="02020603050405020304" pitchFamily="18" charset="0"/>
                      </a:endParaRPr>
                    </a:p>
                  </a:txBody>
                  <a:tcPr marL="73152" marR="73152">
                    <a:solidFill>
                      <a:srgbClr val="193960"/>
                    </a:solidFill>
                  </a:tcPr>
                </a:tc>
                <a:extLst>
                  <a:ext uri="{0D108BD9-81ED-4DB2-BD59-A6C34878D82A}">
                    <a16:rowId xmlns:a16="http://schemas.microsoft.com/office/drawing/2014/main" val="10000"/>
                  </a:ext>
                </a:extLst>
              </a:tr>
              <a:tr h="676656">
                <a:tc>
                  <a:txBody>
                    <a:bodyPr/>
                    <a:lstStyle/>
                    <a:p>
                      <a:pPr algn="ctr"/>
                      <a:r>
                        <a:rPr sz="1150" b="1" dirty="0">
                          <a:solidFill>
                            <a:srgbClr val="193960"/>
                          </a:solidFill>
                          <a:latin typeface="Times New Roman" panose="02020603050405020304" pitchFamily="18" charset="0"/>
                          <a:cs typeface="Times New Roman" panose="02020603050405020304" pitchFamily="18" charset="0"/>
                        </a:rPr>
                        <a:t>Gradient Boosting</a:t>
                      </a:r>
                    </a:p>
                  </a:txBody>
                  <a:tcPr marL="73152" marR="73152">
                    <a:solidFill>
                      <a:srgbClr val="E7F7F7"/>
                    </a:solidFill>
                  </a:tcPr>
                </a:tc>
                <a:tc>
                  <a:txBody>
                    <a:bodyPr/>
                    <a:lstStyle/>
                    <a:p>
                      <a:pPr algn="ctr"/>
                      <a:r>
                        <a:rPr sz="1150" b="1" dirty="0">
                          <a:solidFill>
                            <a:srgbClr val="193960"/>
                          </a:solidFill>
                          <a:latin typeface="Times New Roman" panose="02020603050405020304" pitchFamily="18" charset="0"/>
                          <a:cs typeface="Times New Roman" panose="02020603050405020304" pitchFamily="18" charset="0"/>
                        </a:rPr>
                        <a:t>18,915</a:t>
                      </a:r>
                    </a:p>
                  </a:txBody>
                  <a:tcPr marL="73152" marR="73152">
                    <a:solidFill>
                      <a:srgbClr val="E7F7F7"/>
                    </a:solidFill>
                  </a:tcPr>
                </a:tc>
                <a:tc>
                  <a:txBody>
                    <a:bodyPr/>
                    <a:lstStyle/>
                    <a:p>
                      <a:pPr algn="ctr"/>
                      <a:r>
                        <a:rPr sz="1150" b="1">
                          <a:solidFill>
                            <a:srgbClr val="193960"/>
                          </a:solidFill>
                          <a:latin typeface="Times New Roman" panose="02020603050405020304" pitchFamily="18" charset="0"/>
                          <a:cs typeface="Times New Roman" panose="02020603050405020304" pitchFamily="18" charset="0"/>
                        </a:rPr>
                        <a:t>80,673</a:t>
                      </a:r>
                    </a:p>
                  </a:txBody>
                  <a:tcPr marL="73152" marR="73152">
                    <a:solidFill>
                      <a:srgbClr val="E7F7F7"/>
                    </a:solidFill>
                  </a:tcPr>
                </a:tc>
                <a:tc>
                  <a:txBody>
                    <a:bodyPr/>
                    <a:lstStyle/>
                    <a:p>
                      <a:pPr algn="ctr"/>
                      <a:r>
                        <a:rPr sz="1150" b="1">
                          <a:solidFill>
                            <a:srgbClr val="193960"/>
                          </a:solidFill>
                          <a:latin typeface="Times New Roman" panose="02020603050405020304" pitchFamily="18" charset="0"/>
                          <a:cs typeface="Times New Roman" panose="02020603050405020304" pitchFamily="18" charset="0"/>
                        </a:rPr>
                        <a:t>0.9278</a:t>
                      </a:r>
                    </a:p>
                  </a:txBody>
                  <a:tcPr marL="73152" marR="73152">
                    <a:solidFill>
                      <a:srgbClr val="E7F7F7"/>
                    </a:solidFill>
                  </a:tcPr>
                </a:tc>
                <a:extLst>
                  <a:ext uri="{0D108BD9-81ED-4DB2-BD59-A6C34878D82A}">
                    <a16:rowId xmlns:a16="http://schemas.microsoft.com/office/drawing/2014/main" val="10001"/>
                  </a:ext>
                </a:extLst>
              </a:tr>
              <a:tr h="676656">
                <a:tc>
                  <a:txBody>
                    <a:bodyPr/>
                    <a:lstStyle/>
                    <a:p>
                      <a:pPr algn="ctr"/>
                      <a:r>
                        <a:rPr sz="1150" b="0">
                          <a:solidFill>
                            <a:srgbClr val="193960"/>
                          </a:solidFill>
                          <a:latin typeface="Times New Roman" panose="02020603050405020304" pitchFamily="18" charset="0"/>
                          <a:cs typeface="Times New Roman" panose="02020603050405020304" pitchFamily="18" charset="0"/>
                        </a:rPr>
                        <a:t>Random Forest</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18,884</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86,717</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0.9166</a:t>
                      </a:r>
                    </a:p>
                  </a:txBody>
                  <a:tcPr marL="73152" marR="73152">
                    <a:solidFill>
                      <a:srgbClr val="FFFFFF"/>
                    </a:solidFill>
                  </a:tcPr>
                </a:tc>
                <a:extLst>
                  <a:ext uri="{0D108BD9-81ED-4DB2-BD59-A6C34878D82A}">
                    <a16:rowId xmlns:a16="http://schemas.microsoft.com/office/drawing/2014/main" val="10002"/>
                  </a:ext>
                </a:extLst>
              </a:tr>
              <a:tr h="676656">
                <a:tc>
                  <a:txBody>
                    <a:bodyPr/>
                    <a:lstStyle/>
                    <a:p>
                      <a:pPr algn="ctr"/>
                      <a:r>
                        <a:rPr sz="1150" b="0">
                          <a:solidFill>
                            <a:srgbClr val="193960"/>
                          </a:solidFill>
                          <a:latin typeface="Times New Roman" panose="02020603050405020304" pitchFamily="18" charset="0"/>
                          <a:cs typeface="Times New Roman" panose="02020603050405020304" pitchFamily="18" charset="0"/>
                        </a:rPr>
                        <a:t>ANN</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25,372</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85,471</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0.9190</a:t>
                      </a:r>
                    </a:p>
                  </a:txBody>
                  <a:tcPr marL="73152" marR="73152">
                    <a:solidFill>
                      <a:srgbClr val="FFFFFF"/>
                    </a:solidFill>
                  </a:tcPr>
                </a:tc>
                <a:extLst>
                  <a:ext uri="{0D108BD9-81ED-4DB2-BD59-A6C34878D82A}">
                    <a16:rowId xmlns:a16="http://schemas.microsoft.com/office/drawing/2014/main" val="10003"/>
                  </a:ext>
                </a:extLst>
              </a:tr>
              <a:tr h="676656">
                <a:tc>
                  <a:txBody>
                    <a:bodyPr/>
                    <a:lstStyle/>
                    <a:p>
                      <a:pPr algn="ctr"/>
                      <a:r>
                        <a:rPr sz="1150" b="0" dirty="0">
                          <a:solidFill>
                            <a:srgbClr val="193960"/>
                          </a:solidFill>
                          <a:latin typeface="Times New Roman" panose="02020603050405020304" pitchFamily="18" charset="0"/>
                          <a:cs typeface="Times New Roman" panose="02020603050405020304" pitchFamily="18" charset="0"/>
                        </a:rPr>
                        <a:t>Linear Regression</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26,157</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86,589</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0.9168</a:t>
                      </a:r>
                    </a:p>
                  </a:txBody>
                  <a:tcPr marL="73152" marR="73152">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6858" y="547869"/>
            <a:ext cx="3128357" cy="584775"/>
          </a:xfrm>
          <a:prstGeom prst="rect">
            <a:avLst/>
          </a:prstGeom>
          <a:noFill/>
        </p:spPr>
        <p:txBody>
          <a:bodyPr wrap="none">
            <a:spAutoFit/>
          </a:bodyPr>
          <a:lstStyle/>
          <a:p>
            <a:r>
              <a:rPr sz="3200" b="1" dirty="0">
                <a:solidFill>
                  <a:srgbClr val="193960"/>
                </a:solidFill>
                <a:latin typeface="Times New Roman" panose="02020603050405020304" pitchFamily="18" charset="0"/>
                <a:cs typeface="Times New Roman" panose="02020603050405020304" pitchFamily="18" charset="0"/>
              </a:rPr>
              <a:t>Prediction Demo</a:t>
            </a:r>
          </a:p>
        </p:txBody>
      </p:sp>
      <p:sp>
        <p:nvSpPr>
          <p:cNvPr id="3" name="TextBox 2"/>
          <p:cNvSpPr txBox="1"/>
          <p:nvPr/>
        </p:nvSpPr>
        <p:spPr>
          <a:xfrm>
            <a:off x="1280160" y="1307592"/>
            <a:ext cx="2359941" cy="307777"/>
          </a:xfrm>
          <a:prstGeom prst="rect">
            <a:avLst/>
          </a:prstGeom>
          <a:noFill/>
        </p:spPr>
        <p:txBody>
          <a:bodyPr wrap="none">
            <a:spAutoFit/>
          </a:bodyPr>
          <a:lstStyle/>
          <a:p>
            <a:r>
              <a:rPr lang="en-US" sz="1400" dirty="0">
                <a:solidFill>
                  <a:srgbClr val="64748B"/>
                </a:solidFill>
                <a:latin typeface="Times New Roman" panose="02020603050405020304" pitchFamily="18" charset="0"/>
                <a:cs typeface="Times New Roman" panose="02020603050405020304" pitchFamily="18" charset="0"/>
              </a:rPr>
              <a:t>Prediction based on user input</a:t>
            </a:r>
            <a:endParaRPr sz="1400" dirty="0">
              <a:solidFill>
                <a:srgbClr val="64748B"/>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973157" y="1662996"/>
            <a:ext cx="5303520" cy="45262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7906" y="1461480"/>
            <a:ext cx="64008" cy="4526280"/>
          </a:xfrm>
          <a:prstGeom prst="rect">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253996"/>
            <a:ext cx="1398140" cy="323165"/>
          </a:xfrm>
          <a:prstGeom prst="rect">
            <a:avLst/>
          </a:prstGeom>
          <a:noFill/>
        </p:spPr>
        <p:txBody>
          <a:bodyPr wrap="none">
            <a:spAutoFit/>
          </a:bodyPr>
          <a:lstStyle/>
          <a:p>
            <a:r>
              <a:rPr sz="1500" b="1" dirty="0">
                <a:solidFill>
                  <a:srgbClr val="193960"/>
                </a:solidFill>
                <a:latin typeface="Times New Roman" panose="02020603050405020304" pitchFamily="18" charset="0"/>
                <a:cs typeface="Times New Roman" panose="02020603050405020304" pitchFamily="18" charset="0"/>
              </a:rPr>
              <a:t>Example input</a:t>
            </a:r>
          </a:p>
        </p:txBody>
      </p:sp>
      <p:sp>
        <p:nvSpPr>
          <p:cNvPr id="7" name="TextBox 6"/>
          <p:cNvSpPr txBox="1"/>
          <p:nvPr/>
        </p:nvSpPr>
        <p:spPr>
          <a:xfrm>
            <a:off x="1308437" y="2747772"/>
            <a:ext cx="4983480" cy="2785378"/>
          </a:xfrm>
          <a:prstGeom prst="rect">
            <a:avLst/>
          </a:prstGeom>
          <a:noFill/>
        </p:spPr>
        <p:txBody>
          <a:bodyPr wrap="square">
            <a:spAutoFit/>
          </a:bodyPr>
          <a:lstStyle/>
          <a:p>
            <a:r>
              <a:rPr sz="1250" dirty="0">
                <a:solidFill>
                  <a:srgbClr val="283748"/>
                </a:solidFill>
                <a:latin typeface="Times New Roman" panose="02020603050405020304" pitchFamily="18" charset="0"/>
                <a:cs typeface="Times New Roman" panose="02020603050405020304" pitchFamily="18" charset="0"/>
              </a:rPr>
              <a:t>Car: Maruti Swift
Manufacturing year: 2018
Fuel: Petrol
Kilometers: 35,000
City: Mumbai
Body type: Hatchback
Transmission: Manual
Variant: VXI
Owners: 1
Broker quote: ₹4,50,000
Original price: ₹6,00,000
Car rating: Great
Fitness certificate: True
Warranty: False</a:t>
            </a:r>
          </a:p>
        </p:txBody>
      </p:sp>
      <p:sp>
        <p:nvSpPr>
          <p:cNvPr id="8" name="Rounded Rectangle 7"/>
          <p:cNvSpPr/>
          <p:nvPr/>
        </p:nvSpPr>
        <p:spPr>
          <a:xfrm>
            <a:off x="6568440" y="2263140"/>
            <a:ext cx="4937760" cy="3337560"/>
          </a:xfrm>
          <a:prstGeom prst="roundRect">
            <a:avLst/>
          </a:prstGeom>
          <a:solidFill>
            <a:srgbClr val="12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84209" y="2578608"/>
            <a:ext cx="2953821" cy="338554"/>
          </a:xfrm>
          <a:prstGeom prst="rect">
            <a:avLst/>
          </a:prstGeom>
          <a:noFill/>
        </p:spPr>
        <p:txBody>
          <a:bodyPr wrap="none">
            <a:spAutoFit/>
          </a:bodyPr>
          <a:lstStyle/>
          <a:p>
            <a:pPr algn="ctr"/>
            <a:r>
              <a:rPr sz="1600" b="1" dirty="0">
                <a:solidFill>
                  <a:srgbClr val="BEDCEB"/>
                </a:solidFill>
                <a:latin typeface="Times New Roman" panose="02020603050405020304" pitchFamily="18" charset="0"/>
                <a:cs typeface="Times New Roman" panose="02020603050405020304" pitchFamily="18" charset="0"/>
              </a:rPr>
              <a:t>ESTIMATED RESALE PRICE</a:t>
            </a:r>
          </a:p>
        </p:txBody>
      </p:sp>
      <p:sp>
        <p:nvSpPr>
          <p:cNvPr id="10" name="TextBox 9"/>
          <p:cNvSpPr txBox="1"/>
          <p:nvPr/>
        </p:nvSpPr>
        <p:spPr>
          <a:xfrm>
            <a:off x="7599140" y="3323844"/>
            <a:ext cx="2541080" cy="630942"/>
          </a:xfrm>
          <a:prstGeom prst="rect">
            <a:avLst/>
          </a:prstGeom>
          <a:noFill/>
        </p:spPr>
        <p:txBody>
          <a:bodyPr wrap="none">
            <a:spAutoFit/>
          </a:bodyPr>
          <a:lstStyle/>
          <a:p>
            <a:pPr algn="ctr"/>
            <a:r>
              <a:rPr sz="3500" b="1" dirty="0">
                <a:solidFill>
                  <a:srgbClr val="FFFFFF"/>
                </a:solidFill>
                <a:latin typeface="Times New Roman" panose="02020603050405020304" pitchFamily="18" charset="0"/>
                <a:cs typeface="Times New Roman" panose="02020603050405020304" pitchFamily="18" charset="0"/>
              </a:rPr>
              <a:t>₹4,78,853.38</a:t>
            </a:r>
          </a:p>
        </p:txBody>
      </p:sp>
      <p:sp>
        <p:nvSpPr>
          <p:cNvPr id="11" name="TextBox 10"/>
          <p:cNvSpPr txBox="1"/>
          <p:nvPr/>
        </p:nvSpPr>
        <p:spPr>
          <a:xfrm>
            <a:off x="7713823" y="4537710"/>
            <a:ext cx="2494593" cy="477054"/>
          </a:xfrm>
          <a:prstGeom prst="rect">
            <a:avLst/>
          </a:prstGeom>
          <a:noFill/>
        </p:spPr>
        <p:txBody>
          <a:bodyPr wrap="none">
            <a:spAutoFit/>
          </a:bodyPr>
          <a:lstStyle/>
          <a:p>
            <a:pPr algn="ctr"/>
            <a:r>
              <a:rPr sz="1250" dirty="0">
                <a:solidFill>
                  <a:srgbClr val="D2E0EB"/>
                </a:solidFill>
                <a:latin typeface="Times New Roman" panose="02020603050405020304" pitchFamily="18" charset="0"/>
                <a:cs typeface="Times New Roman" panose="02020603050405020304" pitchFamily="18" charset="0"/>
              </a:rPr>
              <a:t>Prediction generated by the selected
Gradient Boosting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A253-63B3-4DC5-8FA6-360723F1ADE0}"/>
              </a:ext>
            </a:extLst>
          </p:cNvPr>
          <p:cNvSpPr>
            <a:spLocks noGrp="1"/>
          </p:cNvSpPr>
          <p:nvPr>
            <p:ph type="title"/>
          </p:nvPr>
        </p:nvSpPr>
        <p:spPr>
          <a:xfrm>
            <a:off x="3036270" y="665673"/>
            <a:ext cx="8911687" cy="731724"/>
          </a:xfrm>
        </p:spPr>
        <p:txBody>
          <a:bodyPr>
            <a:normAutofit fontScale="90000"/>
          </a:bodyPr>
          <a:lstStyle/>
          <a:p>
            <a:r>
              <a:rPr lang="en-IN" b="1" dirty="0">
                <a:solidFill>
                  <a:srgbClr val="193960"/>
                </a:solidFill>
                <a:latin typeface="Times New Roman" panose="02020603050405020304" pitchFamily="18" charset="0"/>
                <a:cs typeface="Times New Roman" panose="02020603050405020304" pitchFamily="18" charset="0"/>
              </a:rPr>
              <a:t>Results, Conclusion &amp; Limitations</a:t>
            </a:r>
            <a:br>
              <a:rPr lang="en-IN" b="1" dirty="0">
                <a:solidFill>
                  <a:srgbClr val="193960"/>
                </a:solidFill>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185E0C-9602-EB25-D737-FCA0220E19F9}"/>
              </a:ext>
            </a:extLst>
          </p:cNvPr>
          <p:cNvSpPr>
            <a:spLocks noGrp="1"/>
          </p:cNvSpPr>
          <p:nvPr>
            <p:ph idx="1"/>
          </p:nvPr>
        </p:nvSpPr>
        <p:spPr>
          <a:xfrm>
            <a:off x="2057400" y="1397397"/>
            <a:ext cx="9343303" cy="5140514"/>
          </a:xfrm>
        </p:spPr>
        <p:txBody>
          <a:bodyPr>
            <a:normAutofit fontScale="77500" lnSpcReduction="20000"/>
          </a:bodyPr>
          <a:lstStyle/>
          <a:p>
            <a:r>
              <a:rPr lang="en-IN" b="1" u="sng" dirty="0">
                <a:solidFill>
                  <a:srgbClr val="193960"/>
                </a:solidFill>
                <a:latin typeface="Times New Roman" panose="02020603050405020304" pitchFamily="18" charset="0"/>
                <a:cs typeface="Times New Roman" panose="02020603050405020304" pitchFamily="18" charset="0"/>
              </a:rPr>
              <a:t>Main findings:</a:t>
            </a:r>
          </a:p>
          <a:p>
            <a:pPr>
              <a:buFont typeface="+mj-lt"/>
              <a:buAutoNum type="arabicPeriod"/>
            </a:pPr>
            <a:r>
              <a:rPr lang="en-US" dirty="0">
                <a:solidFill>
                  <a:srgbClr val="283748"/>
                </a:solidFill>
                <a:latin typeface="Times New Roman" panose="02020603050405020304" pitchFamily="18" charset="0"/>
                <a:cs typeface="Times New Roman" panose="02020603050405020304" pitchFamily="18" charset="0"/>
              </a:rPr>
              <a:t>Gradient Boosting selected
 R² = 0.9278
 RMSE ≈ ₹80.7K
 MAE ≈ ₹18.9K</a:t>
            </a:r>
          </a:p>
          <a:p>
            <a:pPr>
              <a:buFont typeface="+mj-lt"/>
              <a:buAutoNum type="arabicPeriod"/>
            </a:pPr>
            <a:endParaRPr lang="en-US" dirty="0">
              <a:solidFill>
                <a:srgbClr val="283748"/>
              </a:solidFill>
              <a:latin typeface="Times New Roman" panose="02020603050405020304" pitchFamily="18" charset="0"/>
              <a:cs typeface="Times New Roman" panose="02020603050405020304" pitchFamily="18" charset="0"/>
            </a:endParaRPr>
          </a:p>
          <a:p>
            <a:r>
              <a:rPr lang="en-IN" b="1" u="sng" dirty="0">
                <a:solidFill>
                  <a:srgbClr val="193960"/>
                </a:solidFill>
                <a:latin typeface="Times New Roman" panose="02020603050405020304" pitchFamily="18" charset="0"/>
                <a:cs typeface="Times New Roman" panose="02020603050405020304" pitchFamily="18" charset="0"/>
              </a:rPr>
              <a:t>Conclusion:</a:t>
            </a:r>
          </a:p>
          <a:p>
            <a:pPr marL="0" indent="0">
              <a:lnSpc>
                <a:spcPct val="160000"/>
              </a:lnSpc>
              <a:buNone/>
            </a:pPr>
            <a:r>
              <a:rPr lang="en-US" dirty="0">
                <a:solidFill>
                  <a:srgbClr val="283748"/>
                </a:solidFill>
                <a:latin typeface="Times New Roman" panose="02020603050405020304" pitchFamily="18" charset="0"/>
                <a:cs typeface="Times New Roman" panose="02020603050405020304" pitchFamily="18" charset="0"/>
              </a:rPr>
              <a:t> The project successfully developed an ML and DL-based system for predicting used car resale prices. The models identified important patterns from vehicle features and provided reliable price estimates. Gradient Boosting achieved the best performance with an R² score of 0.9278, showing strong predictive capability.</a:t>
            </a:r>
          </a:p>
          <a:p>
            <a:pPr marL="0" indent="0">
              <a:lnSpc>
                <a:spcPct val="160000"/>
              </a:lnSpc>
              <a:buNone/>
            </a:pPr>
            <a:endParaRPr lang="en-US" dirty="0">
              <a:solidFill>
                <a:srgbClr val="283748"/>
              </a:solidFill>
              <a:latin typeface="Times New Roman" panose="02020603050405020304" pitchFamily="18" charset="0"/>
              <a:cs typeface="Times New Roman" panose="02020603050405020304" pitchFamily="18" charset="0"/>
            </a:endParaRPr>
          </a:p>
          <a:p>
            <a:r>
              <a:rPr lang="en-IN" b="1" u="sng" dirty="0">
                <a:solidFill>
                  <a:srgbClr val="193960"/>
                </a:solidFill>
                <a:latin typeface="Times New Roman" panose="02020603050405020304" pitchFamily="18" charset="0"/>
                <a:cs typeface="Times New Roman" panose="02020603050405020304" pitchFamily="18" charset="0"/>
              </a:rPr>
              <a:t>Current limitations:</a:t>
            </a:r>
          </a:p>
          <a:p>
            <a:pPr>
              <a:buFont typeface="+mj-lt"/>
              <a:buAutoNum type="arabicPeriod"/>
            </a:pPr>
            <a:r>
              <a:rPr lang="en-US" dirty="0">
                <a:solidFill>
                  <a:srgbClr val="283748"/>
                </a:solidFill>
                <a:latin typeface="Times New Roman" panose="02020603050405020304" pitchFamily="18" charset="0"/>
                <a:cs typeface="Times New Roman" panose="02020603050405020304" pitchFamily="18" charset="0"/>
              </a:rPr>
              <a:t>Dataset contains missing values
One-hot encoding creates 1,508 processed features
No explicit outlier-removal step is implemented
ANN training uses a fixed 100-epoch setup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6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3C4B-979F-0AA4-001E-705DA47F7749}"/>
              </a:ext>
            </a:extLst>
          </p:cNvPr>
          <p:cNvSpPr>
            <a:spLocks noGrp="1"/>
          </p:cNvSpPr>
          <p:nvPr>
            <p:ph type="title"/>
          </p:nvPr>
        </p:nvSpPr>
        <p:spPr>
          <a:xfrm>
            <a:off x="2592925" y="624110"/>
            <a:ext cx="8911687" cy="712854"/>
          </a:xfrm>
        </p:spPr>
        <p:txBody>
          <a:bodyPr>
            <a:normAutofit/>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Future Scope &amp; Plans</a:t>
            </a:r>
          </a:p>
        </p:txBody>
      </p:sp>
      <p:sp>
        <p:nvSpPr>
          <p:cNvPr id="3" name="Content Placeholder 2">
            <a:extLst>
              <a:ext uri="{FF2B5EF4-FFF2-40B4-BE49-F238E27FC236}">
                <a16:creationId xmlns:a16="http://schemas.microsoft.com/office/drawing/2014/main" id="{328272F6-8467-79E5-FE5E-45C95CCB131D}"/>
              </a:ext>
            </a:extLst>
          </p:cNvPr>
          <p:cNvSpPr>
            <a:spLocks noGrp="1"/>
          </p:cNvSpPr>
          <p:nvPr>
            <p:ph idx="1"/>
          </p:nvPr>
        </p:nvSpPr>
        <p:spPr>
          <a:xfrm>
            <a:off x="2201284" y="1540189"/>
            <a:ext cx="8915400" cy="3773030"/>
          </a:xfrm>
        </p:spPr>
        <p:txBody>
          <a:bodyPr>
            <a:normAutofit fontScale="85000" lnSpcReduction="10000"/>
          </a:bodyPr>
          <a:lstStyle/>
          <a:p>
            <a:r>
              <a:rPr lang="en-US" u="sng" dirty="0">
                <a:solidFill>
                  <a:srgbClr val="002060"/>
                </a:solidFill>
                <a:latin typeface="Times New Roman" panose="02020603050405020304" pitchFamily="18" charset="0"/>
                <a:cs typeface="Times New Roman" panose="02020603050405020304" pitchFamily="18" charset="0"/>
              </a:rPr>
              <a:t>Model Improvement: </a:t>
            </a:r>
          </a:p>
          <a:p>
            <a:pPr marL="0" indent="0">
              <a:buNone/>
            </a:pPr>
            <a:r>
              <a:rPr lang="en-US" dirty="0">
                <a:latin typeface="Times New Roman" panose="02020603050405020304" pitchFamily="18" charset="0"/>
                <a:cs typeface="Times New Roman" panose="02020603050405020304" pitchFamily="18" charset="0"/>
              </a:rPr>
              <a:t>     Explore advanced ML/DL models and hyperparameter tuning to improve prediction accuracy.</a:t>
            </a:r>
          </a:p>
          <a:p>
            <a:r>
              <a:rPr lang="en-US" u="sng" dirty="0">
                <a:solidFill>
                  <a:srgbClr val="002060"/>
                </a:solidFill>
                <a:latin typeface="Times New Roman" panose="02020603050405020304" pitchFamily="18" charset="0"/>
                <a:cs typeface="Times New Roman" panose="02020603050405020304" pitchFamily="18" charset="0"/>
              </a:rPr>
              <a:t>Real-Time Price Prediction:</a:t>
            </a:r>
          </a:p>
          <a:p>
            <a:pPr marL="0" indent="0">
              <a:buNone/>
            </a:pPr>
            <a:r>
              <a:rPr lang="en-US" dirty="0">
                <a:latin typeface="Times New Roman" panose="02020603050405020304" pitchFamily="18" charset="0"/>
                <a:cs typeface="Times New Roman" panose="02020603050405020304" pitchFamily="18" charset="0"/>
              </a:rPr>
              <a:t>    Develop a user-friendly application that provides instant resale price estimates based on car details.</a:t>
            </a:r>
          </a:p>
          <a:p>
            <a:r>
              <a:rPr lang="en-US" u="sng" dirty="0">
                <a:solidFill>
                  <a:srgbClr val="002060"/>
                </a:solidFill>
                <a:latin typeface="Times New Roman" panose="02020603050405020304" pitchFamily="18" charset="0"/>
                <a:cs typeface="Times New Roman" panose="02020603050405020304" pitchFamily="18" charset="0"/>
              </a:rPr>
              <a:t>More Data Integration</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Include real-time market trends, location-based pricing, and updated vehicle listings for better predictions</a:t>
            </a:r>
            <a:r>
              <a:rPr lang="en-US" dirty="0"/>
              <a:t>. </a:t>
            </a:r>
          </a:p>
          <a:p>
            <a:pPr marL="0" indent="0">
              <a:buNone/>
            </a:pPr>
            <a:endParaRPr lang="en-US" dirty="0"/>
          </a:p>
          <a:p>
            <a:pPr marL="0" indent="0">
              <a:buNone/>
            </a:pPr>
            <a:endParaRPr lang="en-US" u="sng" dirty="0">
              <a:latin typeface="Times New Roman" panose="02020603050405020304" pitchFamily="18" charset="0"/>
              <a:cs typeface="Times New Roman" panose="02020603050405020304" pitchFamily="18" charset="0"/>
            </a:endParaRPr>
          </a:p>
          <a:p>
            <a:pPr marL="0" indent="0">
              <a:buNone/>
            </a:pPr>
            <a:r>
              <a:rPr lang="en-US" u="sng" dirty="0" err="1">
                <a:latin typeface="Times New Roman" panose="02020603050405020304" pitchFamily="18" charset="0"/>
                <a:cs typeface="Times New Roman" panose="02020603050405020304" pitchFamily="18" charset="0"/>
              </a:rPr>
              <a:t>Github</a:t>
            </a:r>
            <a:r>
              <a:rPr lang="en-US" u="sng" dirty="0">
                <a:latin typeface="Times New Roman" panose="02020603050405020304" pitchFamily="18" charset="0"/>
                <a:cs typeface="Times New Roman" panose="02020603050405020304" pitchFamily="18" charset="0"/>
              </a:rPr>
              <a:t> URL:</a:t>
            </a:r>
          </a:p>
          <a:p>
            <a:pPr marL="0" indent="0">
              <a:buNone/>
            </a:pPr>
            <a:r>
              <a:rPr lang="en-US" dirty="0">
                <a:hlinkClick r:id="rId2"/>
              </a:rPr>
              <a:t>https://github.com/hazarikafarhan05/Car-Resale-Value-Prediction-PBEL-PROJECT.git</a:t>
            </a:r>
            <a:endParaRPr lang="en-US" dirty="0"/>
          </a:p>
          <a:p>
            <a:pPr marL="0" indent="0">
              <a:buNone/>
            </a:pPr>
            <a:endParaRPr lang="en-IN" dirty="0"/>
          </a:p>
        </p:txBody>
      </p:sp>
    </p:spTree>
    <p:extLst>
      <p:ext uri="{BB962C8B-B14F-4D97-AF65-F5344CB8AC3E}">
        <p14:creationId xmlns:p14="http://schemas.microsoft.com/office/powerpoint/2010/main" val="187086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1095-0416-A7D9-F690-3764A7AA42FF}"/>
              </a:ext>
            </a:extLst>
          </p:cNvPr>
          <p:cNvSpPr>
            <a:spLocks noGrp="1"/>
          </p:cNvSpPr>
          <p:nvPr>
            <p:ph type="title"/>
          </p:nvPr>
        </p:nvSpPr>
        <p:spPr>
          <a:xfrm>
            <a:off x="521980" y="1631240"/>
            <a:ext cx="9905998" cy="3973147"/>
          </a:xfrm>
        </p:spPr>
        <p:txBody>
          <a:bodyPr>
            <a:normAutofit/>
          </a:bodyPr>
          <a:lstStyle/>
          <a:p>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r>
              <a:rPr lang="en-IN" sz="5400" b="1" dirty="0">
                <a:latin typeface="Times New Roman" panose="02020603050405020304" pitchFamily="18" charset="0"/>
                <a:cs typeface="Times New Roman" panose="02020603050405020304" pitchFamily="18" charset="0"/>
              </a:rPr>
              <a:t>Thank You</a:t>
            </a:r>
            <a:br>
              <a:rPr lang="en-IN" sz="5400" b="1" dirty="0">
                <a:latin typeface="Times New Roman" panose="02020603050405020304" pitchFamily="18" charset="0"/>
                <a:cs typeface="Times New Roman" panose="02020603050405020304" pitchFamily="18" charset="0"/>
              </a:rPr>
            </a:b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2902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TotalTime>
  <Words>983</Words>
  <Application>Microsoft Office PowerPoint</Application>
  <PresentationFormat>Widescreen</PresentationFormat>
  <Paragraphs>148</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Calibri</vt:lpstr>
      <vt:lpstr>Century Gothic</vt:lpstr>
      <vt:lpstr>Times New Roman</vt:lpstr>
      <vt:lpstr>Wingdings 3</vt:lpstr>
      <vt:lpstr>Wisp</vt:lpstr>
      <vt:lpstr>PowerPoint Presentation</vt:lpstr>
      <vt:lpstr>               Problem Statement</vt:lpstr>
      <vt:lpstr>               Problem Objective </vt:lpstr>
      <vt:lpstr>                         Dataset Overview </vt:lpstr>
      <vt:lpstr> </vt:lpstr>
      <vt:lpstr>PowerPoint Presentation</vt:lpstr>
      <vt:lpstr>PowerPoint Presentation</vt:lpstr>
      <vt:lpstr>                 Models Implemented  </vt:lpstr>
      <vt:lpstr>PowerPoint Presentation</vt:lpstr>
      <vt:lpstr>PowerPoint Presentation</vt:lpstr>
      <vt:lpstr>Results, Conclusion &amp; Limitations </vt:lpstr>
      <vt:lpstr>                 Future Scope &amp; Plans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Hazarika</dc:creator>
  <cp:lastModifiedBy>Farhan Hazarika</cp:lastModifiedBy>
  <cp:revision>1</cp:revision>
  <dcterms:created xsi:type="dcterms:W3CDTF">2026-08-25T08:16:35Z</dcterms:created>
  <dcterms:modified xsi:type="dcterms:W3CDTF">2026-08-25T08:18:40Z</dcterms:modified>
</cp:coreProperties>
</file>